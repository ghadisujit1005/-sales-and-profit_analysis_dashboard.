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94" r:id="rId1"/>
  </p:sldMasterIdLst>
  <p:sldIdLst>
    <p:sldId id="256" r:id="rId2"/>
    <p:sldId id="257" r:id="rId3"/>
    <p:sldId id="258" r:id="rId4"/>
    <p:sldId id="259" r:id="rId5"/>
    <p:sldId id="272" r:id="rId6"/>
    <p:sldId id="273" r:id="rId7"/>
    <p:sldId id="260" r:id="rId8"/>
    <p:sldId id="261" r:id="rId9"/>
    <p:sldId id="262" r:id="rId10"/>
    <p:sldId id="263" r:id="rId11"/>
    <p:sldId id="274" r:id="rId12"/>
    <p:sldId id="275" r:id="rId13"/>
    <p:sldId id="276" r:id="rId14"/>
    <p:sldId id="278" r:id="rId15"/>
    <p:sldId id="279" r:id="rId16"/>
    <p:sldId id="280" r:id="rId17"/>
    <p:sldId id="281" r:id="rId18"/>
    <p:sldId id="282" r:id="rId19"/>
    <p:sldId id="269" r:id="rId2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83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21701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2680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89154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3458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83509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4432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06527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955616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t>11/26/2025</a:t>
            </a:fld>
            <a:endParaRPr lang="en-US"/>
          </a:p>
        </p:txBody>
      </p:sp>
    </p:spTree>
    <p:extLst>
      <p:ext uri="{BB962C8B-B14F-4D97-AF65-F5344CB8AC3E}">
        <p14:creationId xmlns:p14="http://schemas.microsoft.com/office/powerpoint/2010/main" val="3541526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7683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81582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28901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940944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8716816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37179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919166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79589" y="1351534"/>
            <a:ext cx="3710940" cy="873125"/>
          </a:xfrm>
          <a:prstGeom prst="rect">
            <a:avLst/>
          </a:prstGeom>
        </p:spPr>
        <p:txBody>
          <a:bodyPr wrap="square" lIns="0" tIns="0" rIns="0" bIns="0">
            <a:spAutoFit/>
          </a:bodyPr>
          <a:lstStyle>
            <a:lvl1pPr>
              <a:defRPr sz="325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5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9636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11/26/2025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948868930"/>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 id="2147483911"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762000"/>
            <a:ext cx="9576437" cy="320601"/>
          </a:xfrm>
          <a:prstGeom prst="rect">
            <a:avLst/>
          </a:prstGeom>
          <a:noFill/>
        </p:spPr>
        <p:txBody>
          <a:bodyPr vert="horz" wrap="square" lIns="0" tIns="0" rIns="0" bIns="0" numCol="1" rtlCol="0">
            <a:spAutoFit/>
          </a:bodyPr>
          <a:lstStyle/>
          <a:p>
            <a:pPr marL="17780" algn="ctr">
              <a:lnSpc>
                <a:spcPts val="2490"/>
              </a:lnSpc>
            </a:pPr>
            <a:r>
              <a:rPr lang="en-IN" sz="2200" dirty="0">
                <a:solidFill>
                  <a:schemeClr val="tx1"/>
                </a:solidFill>
                <a:latin typeface="Arial Black" panose="020B0A04020102020204" pitchFamily="34" charset="0"/>
              </a:rPr>
              <a:t>Sales &amp; Profit Dashboard Using Microsoft Excel</a:t>
            </a:r>
            <a:endParaRPr sz="2200" dirty="0">
              <a:solidFill>
                <a:schemeClr val="tx1"/>
              </a:solidFill>
              <a:latin typeface="Arial Black" panose="020B0A04020102020204" pitchFamily="34" charset="0"/>
            </a:endParaRPr>
          </a:p>
        </p:txBody>
      </p:sp>
      <p:grpSp>
        <p:nvGrpSpPr>
          <p:cNvPr id="6" name="object 6"/>
          <p:cNvGrpSpPr/>
          <p:nvPr/>
        </p:nvGrpSpPr>
        <p:grpSpPr>
          <a:xfrm>
            <a:off x="152400" y="1390618"/>
            <a:ext cx="9730900" cy="4076764"/>
            <a:chOff x="190500" y="1598853"/>
            <a:chExt cx="11706098" cy="4076764"/>
          </a:xfrm>
        </p:grpSpPr>
        <p:sp>
          <p:nvSpPr>
            <p:cNvPr id="9" name="object 9"/>
            <p:cNvSpPr/>
            <p:nvPr/>
          </p:nvSpPr>
          <p:spPr>
            <a:xfrm>
              <a:off x="2323973" y="1665592"/>
              <a:ext cx="9572625" cy="4010025"/>
            </a:xfrm>
            <a:custGeom>
              <a:avLst/>
              <a:gdLst/>
              <a:ahLst/>
              <a:cxnLst/>
              <a:rect l="l" t="t" r="r" b="b"/>
              <a:pathLst>
                <a:path w="9572625" h="4010025">
                  <a:moveTo>
                    <a:pt x="0" y="4009516"/>
                  </a:moveTo>
                  <a:lnTo>
                    <a:pt x="9572371" y="4009516"/>
                  </a:lnTo>
                  <a:lnTo>
                    <a:pt x="9572371" y="0"/>
                  </a:lnTo>
                  <a:lnTo>
                    <a:pt x="0" y="0"/>
                  </a:lnTo>
                  <a:lnTo>
                    <a:pt x="0" y="4009516"/>
                  </a:lnTo>
                  <a:close/>
                </a:path>
              </a:pathLst>
            </a:custGeom>
            <a:ln w="38100">
              <a:solidFill>
                <a:srgbClr val="00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190500" y="1598853"/>
              <a:ext cx="2157348" cy="4061967"/>
            </a:xfrm>
            <a:prstGeom prst="rect">
              <a:avLst/>
            </a:prstGeom>
          </p:spPr>
        </p:pic>
      </p:grpSp>
      <p:pic>
        <p:nvPicPr>
          <p:cNvPr id="5" name="Picture 4">
            <a:extLst>
              <a:ext uri="{FF2B5EF4-FFF2-40B4-BE49-F238E27FC236}">
                <a16:creationId xmlns:a16="http://schemas.microsoft.com/office/drawing/2014/main" id="{591A87B5-4869-4510-A178-454EB13F03A1}"/>
              </a:ext>
            </a:extLst>
          </p:cNvPr>
          <p:cNvPicPr>
            <a:picLocks noChangeAspect="1"/>
          </p:cNvPicPr>
          <p:nvPr/>
        </p:nvPicPr>
        <p:blipFill>
          <a:blip r:embed="rId3"/>
          <a:stretch>
            <a:fillRect/>
          </a:stretch>
        </p:blipFill>
        <p:spPr>
          <a:xfrm>
            <a:off x="1925887" y="1453298"/>
            <a:ext cx="7957414" cy="39992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6C24D4-5401-4D8E-A316-D905E84B4968}"/>
              </a:ext>
            </a:extLst>
          </p:cNvPr>
          <p:cNvSpPr>
            <a:spLocks noGrp="1"/>
          </p:cNvSpPr>
          <p:nvPr>
            <p:ph type="title"/>
          </p:nvPr>
        </p:nvSpPr>
        <p:spPr>
          <a:xfrm>
            <a:off x="1331471" y="609600"/>
            <a:ext cx="8596668" cy="685800"/>
          </a:xfrm>
        </p:spPr>
        <p:txBody>
          <a:bodyPr/>
          <a:lstStyle/>
          <a:p>
            <a:pPr algn="ctr"/>
            <a:r>
              <a:rPr lang="en-IN" b="1" dirty="0">
                <a:latin typeface="Arial Black" panose="020B0A04020102020204" pitchFamily="34" charset="0"/>
              </a:rPr>
              <a:t>Overviews</a:t>
            </a:r>
          </a:p>
        </p:txBody>
      </p:sp>
      <p:sp>
        <p:nvSpPr>
          <p:cNvPr id="8" name="Rectangle 7">
            <a:extLst>
              <a:ext uri="{FF2B5EF4-FFF2-40B4-BE49-F238E27FC236}">
                <a16:creationId xmlns:a16="http://schemas.microsoft.com/office/drawing/2014/main" id="{CC92EA3A-30D9-443C-AC78-287AA1F74E89}"/>
              </a:ext>
            </a:extLst>
          </p:cNvPr>
          <p:cNvSpPr/>
          <p:nvPr/>
        </p:nvSpPr>
        <p:spPr>
          <a:xfrm>
            <a:off x="1331471" y="1676400"/>
            <a:ext cx="7964929" cy="457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a:solidFill>
                  <a:schemeClr val="tx1"/>
                </a:solidFill>
                <a:latin typeface="Bahnschrift Condensed" panose="020B0502040204020203" pitchFamily="34" charset="0"/>
              </a:rPr>
              <a:t>OBJECTIVES</a:t>
            </a:r>
            <a:endParaRPr lang="en-IN" sz="1800" dirty="0">
              <a:solidFill>
                <a:schemeClr val="tx1"/>
              </a:solidFill>
              <a:latin typeface="Bahnschrift Condensed" panose="020B0502040204020203" pitchFamily="34" charset="0"/>
            </a:endParaRPr>
          </a:p>
          <a:p>
            <a:pPr marL="285750" indent="-285750">
              <a:buFont typeface="Arial" panose="020B0604020202020204" pitchFamily="34" charset="0"/>
              <a:buChar char="•"/>
            </a:pPr>
            <a:r>
              <a:rPr lang="en-IN" sz="1800" dirty="0">
                <a:solidFill>
                  <a:schemeClr val="tx1"/>
                </a:solidFill>
                <a:latin typeface="Bahnschrift Condensed" panose="020B0502040204020203" pitchFamily="34" charset="0"/>
              </a:rPr>
              <a:t>DATA PROCESSING</a:t>
            </a:r>
          </a:p>
          <a:p>
            <a:pPr marL="285750" indent="-285750">
              <a:buFont typeface="Arial" panose="020B0604020202020204" pitchFamily="34" charset="0"/>
              <a:buChar char="•"/>
            </a:pPr>
            <a:r>
              <a:rPr lang="en-IN" sz="1800" dirty="0">
                <a:solidFill>
                  <a:schemeClr val="tx1"/>
                </a:solidFill>
                <a:latin typeface="Bahnschrift Condensed" panose="020B0502040204020203" pitchFamily="34" charset="0"/>
              </a:rPr>
              <a:t>PLOATING PIVOT AND CHART</a:t>
            </a:r>
          </a:p>
          <a:p>
            <a:r>
              <a:rPr lang="en-IN" dirty="0">
                <a:solidFill>
                  <a:schemeClr val="tx1"/>
                </a:solidFill>
                <a:latin typeface="Bahnschrift Condensed" panose="020B0502040204020203" pitchFamily="34" charset="0"/>
              </a:rPr>
              <a:t>    </a:t>
            </a:r>
            <a:r>
              <a:rPr lang="en-IN" sz="1800" dirty="0">
                <a:solidFill>
                  <a:schemeClr val="tx1"/>
                </a:solidFill>
                <a:latin typeface="Bahnschrift Condensed" panose="020B0502040204020203" pitchFamily="34" charset="0"/>
              </a:rPr>
              <a:t>  A) Profit by sales</a:t>
            </a:r>
          </a:p>
          <a:p>
            <a:r>
              <a:rPr lang="en-IN" sz="1800" dirty="0">
                <a:solidFill>
                  <a:schemeClr val="tx1"/>
                </a:solidFill>
                <a:latin typeface="Bahnschrift Condensed" panose="020B0502040204020203" pitchFamily="34" charset="0"/>
              </a:rPr>
              <a:t>      B) Sales by category</a:t>
            </a:r>
          </a:p>
          <a:p>
            <a:r>
              <a:rPr lang="en-IN" sz="1800" dirty="0">
                <a:solidFill>
                  <a:schemeClr val="tx1"/>
                </a:solidFill>
                <a:latin typeface="Bahnschrift Condensed" panose="020B0502040204020203" pitchFamily="34" charset="0"/>
              </a:rPr>
              <a:t>      C) Customer count</a:t>
            </a:r>
          </a:p>
          <a:p>
            <a:r>
              <a:rPr lang="en-IN" sz="1800" dirty="0">
                <a:solidFill>
                  <a:schemeClr val="tx1"/>
                </a:solidFill>
                <a:latin typeface="Bahnschrift Condensed" panose="020B0502040204020203" pitchFamily="34" charset="0"/>
              </a:rPr>
              <a:t>      D) Sales by state</a:t>
            </a:r>
          </a:p>
          <a:p>
            <a:r>
              <a:rPr lang="en-IN" dirty="0">
                <a:solidFill>
                  <a:schemeClr val="tx1"/>
                </a:solidFill>
                <a:latin typeface="Bahnschrift Condensed" panose="020B0502040204020203" pitchFamily="34" charset="0"/>
              </a:rPr>
              <a:t>      E) Top 5 Customer Profit</a:t>
            </a:r>
          </a:p>
          <a:p>
            <a:r>
              <a:rPr lang="en-IN" dirty="0">
                <a:solidFill>
                  <a:schemeClr val="tx1"/>
                </a:solidFill>
                <a:latin typeface="Bahnschrift Condensed" panose="020B0502040204020203" pitchFamily="34" charset="0"/>
              </a:rPr>
              <a:t>      F) Sales by Months</a:t>
            </a:r>
          </a:p>
          <a:p>
            <a:endParaRPr lang="en-IN" sz="1800" dirty="0">
              <a:solidFill>
                <a:schemeClr val="tx1"/>
              </a:solidFill>
              <a:latin typeface="Bahnschrift Condensed" panose="020B0502040204020203" pitchFamily="34" charset="0"/>
            </a:endParaRPr>
          </a:p>
          <a:p>
            <a:pPr marL="285750" indent="-285750">
              <a:buFont typeface="Arial" panose="020B0604020202020204" pitchFamily="34" charset="0"/>
              <a:buChar char="•"/>
            </a:pPr>
            <a:r>
              <a:rPr lang="en-IN" sz="1800" dirty="0">
                <a:solidFill>
                  <a:schemeClr val="tx1"/>
                </a:solidFill>
                <a:latin typeface="Bahnschrift Condensed" panose="020B0502040204020203" pitchFamily="34" charset="0"/>
              </a:rPr>
              <a:t>FILTER USED BY SLIDER</a:t>
            </a:r>
          </a:p>
          <a:p>
            <a:pPr lvl="1"/>
            <a:r>
              <a:rPr lang="en-IN" dirty="0">
                <a:solidFill>
                  <a:schemeClr val="tx1"/>
                </a:solidFill>
                <a:latin typeface="Bahnschrift Condensed" panose="020B0502040204020203" pitchFamily="34" charset="0"/>
              </a:rPr>
              <a:t>A) Category		B) Year		C) Months</a:t>
            </a:r>
          </a:p>
          <a:p>
            <a:pPr marL="742950" lvl="1" indent="-285750">
              <a:buFont typeface="Wingdings" panose="05000000000000000000" pitchFamily="2" charset="2"/>
              <a:buChar char="q"/>
            </a:pPr>
            <a:endParaRPr lang="en-IN" dirty="0">
              <a:solidFill>
                <a:schemeClr val="tx1"/>
              </a:solidFill>
              <a:latin typeface="Bahnschrift Condensed" panose="020B0502040204020203" pitchFamily="34" charset="0"/>
            </a:endParaRPr>
          </a:p>
          <a:p>
            <a:pPr marL="285750" indent="-285750">
              <a:buFont typeface="Arial" panose="020B0604020202020204" pitchFamily="34" charset="0"/>
              <a:buChar char="•"/>
            </a:pPr>
            <a:r>
              <a:rPr lang="en-US" sz="1800" dirty="0">
                <a:solidFill>
                  <a:schemeClr val="tx1"/>
                </a:solidFill>
                <a:latin typeface="Bahnschrift Condensed" panose="020B0502040204020203" pitchFamily="34" charset="0"/>
              </a:rPr>
              <a:t>C</a:t>
            </a:r>
            <a:r>
              <a:rPr lang="en-IN" sz="1800" dirty="0">
                <a:solidFill>
                  <a:schemeClr val="tx1"/>
                </a:solidFill>
                <a:latin typeface="Bahnschrift Condensed" panose="020B0502040204020203" pitchFamily="34" charset="0"/>
              </a:rPr>
              <a:t>ARDS CREATION</a:t>
            </a:r>
          </a:p>
          <a:p>
            <a:pPr marL="285750" indent="-285750">
              <a:buFont typeface="Arial" panose="020B0604020202020204" pitchFamily="34" charset="0"/>
              <a:buChar char="•"/>
            </a:pPr>
            <a:r>
              <a:rPr lang="en-IN" sz="1800" dirty="0">
                <a:solidFill>
                  <a:schemeClr val="tx1"/>
                </a:solidFill>
                <a:latin typeface="Bahnschrift Condensed" panose="020B0502040204020203" pitchFamily="34" charset="0"/>
              </a:rPr>
              <a:t>CONCLUSION</a:t>
            </a:r>
          </a:p>
          <a:p>
            <a:pPr marL="285750" indent="-285750">
              <a:buFont typeface="Arial" panose="020B0604020202020204" pitchFamily="34" charset="0"/>
              <a:buChar char="•"/>
            </a:pPr>
            <a:r>
              <a:rPr lang="en-IN" sz="1800" dirty="0">
                <a:solidFill>
                  <a:schemeClr val="tx1"/>
                </a:solidFill>
                <a:latin typeface="Bahnschrift Condensed" panose="020B0502040204020203" pitchFamily="34" charset="0"/>
              </a:rPr>
              <a:t>RECOMMENDATION</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F606558-B455-4CB4-BCB9-D6900B89A028}"/>
              </a:ext>
            </a:extLst>
          </p:cNvPr>
          <p:cNvSpPr>
            <a:spLocks noGrp="1"/>
          </p:cNvSpPr>
          <p:nvPr>
            <p:ph type="title"/>
          </p:nvPr>
        </p:nvSpPr>
        <p:spPr>
          <a:xfrm>
            <a:off x="685801" y="609600"/>
            <a:ext cx="8596668" cy="990600"/>
          </a:xfrm>
        </p:spPr>
        <p:txBody>
          <a:bodyPr/>
          <a:lstStyle/>
          <a:p>
            <a:pPr algn="ctr"/>
            <a:r>
              <a:rPr lang="en-IN" dirty="0">
                <a:latin typeface="Arial Black" panose="020B0A04020102020204" pitchFamily="34" charset="0"/>
              </a:rPr>
              <a:t>OBJECTIVES</a:t>
            </a:r>
          </a:p>
        </p:txBody>
      </p:sp>
      <p:sp>
        <p:nvSpPr>
          <p:cNvPr id="10" name="Rectangle 9">
            <a:extLst>
              <a:ext uri="{FF2B5EF4-FFF2-40B4-BE49-F238E27FC236}">
                <a16:creationId xmlns:a16="http://schemas.microsoft.com/office/drawing/2014/main" id="{CB71EF6D-098C-4547-90C2-0CCCD3E2E7D9}"/>
              </a:ext>
            </a:extLst>
          </p:cNvPr>
          <p:cNvSpPr/>
          <p:nvPr/>
        </p:nvSpPr>
        <p:spPr>
          <a:xfrm>
            <a:off x="685801" y="1447800"/>
            <a:ext cx="9629774" cy="518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Condensed" panose="020B0502040204020203" pitchFamily="34" charset="0"/>
              </a:rPr>
              <a:t>1. Monitor Overall Sales &amp; Profit Performance</a:t>
            </a:r>
          </a:p>
          <a:p>
            <a:r>
              <a:rPr lang="en-US" dirty="0">
                <a:solidFill>
                  <a:schemeClr val="tx1"/>
                </a:solidFill>
                <a:latin typeface="Bahnschrift Condensed" panose="020B0502040204020203" pitchFamily="34" charset="0"/>
              </a:rPr>
              <a:t>Provide a quick and accurate snapshot of total sales and total profit across selected time periods to support data-driven business decisions.</a:t>
            </a:r>
          </a:p>
          <a:p>
            <a:r>
              <a:rPr lang="en-US" dirty="0">
                <a:solidFill>
                  <a:schemeClr val="tx1"/>
                </a:solidFill>
                <a:latin typeface="Bahnschrift Condensed" panose="020B0502040204020203" pitchFamily="34" charset="0"/>
              </a:rPr>
              <a:t>2. Analyze Sales and Profit Trends Over Time</a:t>
            </a:r>
          </a:p>
          <a:p>
            <a:r>
              <a:rPr lang="en-US" dirty="0">
                <a:solidFill>
                  <a:schemeClr val="tx1"/>
                </a:solidFill>
                <a:latin typeface="Bahnschrift Condensed" panose="020B0502040204020203" pitchFamily="34" charset="0"/>
              </a:rPr>
              <a:t>Track year-wise and month-wise performance to identify growth patterns, seasonal trends, and fluctuations in sales and profitability.</a:t>
            </a:r>
          </a:p>
          <a:p>
            <a:r>
              <a:rPr lang="en-US" dirty="0">
                <a:solidFill>
                  <a:schemeClr val="tx1"/>
                </a:solidFill>
                <a:latin typeface="Bahnschrift Condensed" panose="020B0502040204020203" pitchFamily="34" charset="0"/>
              </a:rPr>
              <a:t>3. Evaluate Product Category Performance</a:t>
            </a:r>
          </a:p>
          <a:p>
            <a:r>
              <a:rPr lang="en-US" dirty="0">
                <a:solidFill>
                  <a:schemeClr val="tx1"/>
                </a:solidFill>
                <a:latin typeface="Bahnschrift Condensed" panose="020B0502040204020203" pitchFamily="34" charset="0"/>
              </a:rPr>
              <a:t>Break down sales and profit by category (Furniture, Office Supplies, Technology) to understand which product groups drive revenue and which need improvement.</a:t>
            </a:r>
          </a:p>
          <a:p>
            <a:r>
              <a:rPr lang="en-US" dirty="0">
                <a:solidFill>
                  <a:schemeClr val="tx1"/>
                </a:solidFill>
                <a:latin typeface="Bahnschrift Condensed" panose="020B0502040204020203" pitchFamily="34" charset="0"/>
              </a:rPr>
              <a:t>4. Identify Top-Performing Customers</a:t>
            </a:r>
          </a:p>
          <a:p>
            <a:r>
              <a:rPr lang="en-US" dirty="0">
                <a:solidFill>
                  <a:schemeClr val="tx1"/>
                </a:solidFill>
                <a:latin typeface="Bahnschrift Condensed" panose="020B0502040204020203" pitchFamily="34" charset="0"/>
              </a:rPr>
              <a:t>Highlight the highest-profit customers to help the business focus on key relationships and develop targeted retention strategies.</a:t>
            </a:r>
          </a:p>
          <a:p>
            <a:r>
              <a:rPr lang="en-US" dirty="0">
                <a:solidFill>
                  <a:schemeClr val="tx1"/>
                </a:solidFill>
                <a:latin typeface="Bahnschrift Condensed" panose="020B0502040204020203" pitchFamily="34" charset="0"/>
              </a:rPr>
              <a:t>5. Understand Regional Sales Distribution</a:t>
            </a:r>
          </a:p>
          <a:p>
            <a:r>
              <a:rPr lang="en-US" dirty="0">
                <a:solidFill>
                  <a:schemeClr val="tx1"/>
                </a:solidFill>
                <a:latin typeface="Bahnschrift Condensed" panose="020B0502040204020203" pitchFamily="34" charset="0"/>
              </a:rPr>
              <a:t>Visualize sales by state/region to uncover strong and weak markets, enabling better resource allocation and regional strategies.</a:t>
            </a:r>
          </a:p>
          <a:p>
            <a:r>
              <a:rPr lang="en-US" dirty="0">
                <a:solidFill>
                  <a:schemeClr val="tx1"/>
                </a:solidFill>
                <a:latin typeface="Bahnschrift Condensed" panose="020B0502040204020203" pitchFamily="34" charset="0"/>
              </a:rPr>
              <a:t>6. Provide Interactive Filtering for Deep Analysis</a:t>
            </a:r>
          </a:p>
          <a:p>
            <a:r>
              <a:rPr lang="en-US" dirty="0">
                <a:solidFill>
                  <a:schemeClr val="tx1"/>
                </a:solidFill>
                <a:latin typeface="Bahnschrift Condensed" panose="020B0502040204020203" pitchFamily="34" charset="0"/>
              </a:rPr>
              <a:t>Allow users to slice data by Category, Year, and Month to conduct detailed and customized analysis based on business needs.</a:t>
            </a:r>
          </a:p>
          <a:p>
            <a:endParaRPr lang="en-US" b="1" dirty="0">
              <a:solidFill>
                <a:schemeClr val="tx1"/>
              </a:solidFill>
              <a:latin typeface="Bahnschrift Condensed"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E3B0AC-43F9-43CF-A798-35C8F0ADF60C}"/>
              </a:ext>
            </a:extLst>
          </p:cNvPr>
          <p:cNvSpPr/>
          <p:nvPr/>
        </p:nvSpPr>
        <p:spPr>
          <a:xfrm>
            <a:off x="2057400" y="457200"/>
            <a:ext cx="64770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DATA PROCESSING</a:t>
            </a:r>
          </a:p>
        </p:txBody>
      </p:sp>
      <p:sp>
        <p:nvSpPr>
          <p:cNvPr id="10" name="Rectangle 9">
            <a:extLst>
              <a:ext uri="{FF2B5EF4-FFF2-40B4-BE49-F238E27FC236}">
                <a16:creationId xmlns:a16="http://schemas.microsoft.com/office/drawing/2014/main" id="{02D33A8A-ABAF-4340-8CAF-CE1B7122F112}"/>
              </a:ext>
            </a:extLst>
          </p:cNvPr>
          <p:cNvSpPr/>
          <p:nvPr/>
        </p:nvSpPr>
        <p:spPr>
          <a:xfrm>
            <a:off x="1066800" y="1295401"/>
            <a:ext cx="8229600" cy="541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Bahnschrift Condensed" panose="020B0502040204020203" pitchFamily="34" charset="0"/>
              </a:rPr>
              <a:t>1. Data Collection</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Bahnschrift Condensed" panose="020B0502040204020203" pitchFamily="34" charset="0"/>
              </a:rPr>
              <a:t>Import raw sales data from Excel, CSV, or database sources.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Bahnschrift Condensed" panose="020B0502040204020203" pitchFamily="34" charset="0"/>
              </a:rPr>
              <a:t>Typical fields include:</a:t>
            </a:r>
            <a:br>
              <a:rPr kumimoji="0" lang="en-US" altLang="en-US" b="0" i="0" u="none" strike="noStrike" cap="none" normalizeH="0" baseline="0" dirty="0">
                <a:ln>
                  <a:noFill/>
                </a:ln>
                <a:solidFill>
                  <a:schemeClr val="tx1"/>
                </a:solidFill>
                <a:effectLst/>
                <a:latin typeface="Bahnschrift Condensed" panose="020B0502040204020203" pitchFamily="34" charset="0"/>
              </a:rPr>
            </a:br>
            <a:r>
              <a:rPr kumimoji="0" lang="en-US" altLang="en-US" b="0" u="none" strike="noStrike" cap="none" normalizeH="0" baseline="0" dirty="0">
                <a:ln>
                  <a:noFill/>
                </a:ln>
                <a:solidFill>
                  <a:schemeClr val="tx1"/>
                </a:solidFill>
                <a:effectLst/>
                <a:latin typeface="Bahnschrift Condensed" panose="020B0502040204020203" pitchFamily="34" charset="0"/>
              </a:rPr>
              <a:t>Order Date, Customer Name, State, Category, Sub-Category, Product Name, Sales, Quantity, Profit, Year, Month.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Bahnschrift Condensed"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Bahnschrift Condensed" panose="020B0502040204020203" pitchFamily="34" charset="0"/>
              </a:rPr>
              <a:t>2. Data Cleaning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Bahnschrift Condensed" panose="020B0502040204020203" pitchFamily="34" charset="0"/>
              </a:rPr>
              <a:t>Remove duplicates</a:t>
            </a:r>
            <a:br>
              <a:rPr kumimoji="0" lang="en-US" altLang="en-US" b="0" i="0" u="none" strike="noStrike" cap="none" normalizeH="0" baseline="0" dirty="0">
                <a:ln>
                  <a:noFill/>
                </a:ln>
                <a:solidFill>
                  <a:schemeClr val="tx1"/>
                </a:solidFill>
                <a:effectLst/>
                <a:latin typeface="Bahnschrift Condensed" panose="020B0502040204020203" pitchFamily="34" charset="0"/>
              </a:rPr>
            </a:br>
            <a:r>
              <a:rPr kumimoji="0" lang="en-US" altLang="en-US" b="0" i="0" u="none" strike="noStrike" cap="none" normalizeH="0" baseline="0" dirty="0">
                <a:ln>
                  <a:noFill/>
                </a:ln>
                <a:solidFill>
                  <a:schemeClr val="tx1"/>
                </a:solidFill>
                <a:effectLst/>
                <a:latin typeface="Bahnschrift Condensed" panose="020B0502040204020203" pitchFamily="34" charset="0"/>
              </a:rPr>
              <a:t>Delete repeated rows to avoid distorted totals.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Bahnschrift Condensed" panose="020B0502040204020203" pitchFamily="34" charset="0"/>
              </a:rPr>
              <a:t>Handle missing values</a:t>
            </a:r>
            <a:br>
              <a:rPr kumimoji="0" lang="en-US" altLang="en-US" b="0" i="0" u="none" strike="noStrike" cap="none" normalizeH="0" baseline="0" dirty="0">
                <a:ln>
                  <a:noFill/>
                </a:ln>
                <a:solidFill>
                  <a:schemeClr val="tx1"/>
                </a:solidFill>
                <a:effectLst/>
                <a:latin typeface="Bahnschrift Condensed" panose="020B0502040204020203" pitchFamily="34" charset="0"/>
              </a:rPr>
            </a:br>
            <a:r>
              <a:rPr kumimoji="0" lang="en-US" altLang="en-US" b="0" i="0" u="none" strike="noStrike" cap="none" normalizeH="0" baseline="0" dirty="0">
                <a:ln>
                  <a:noFill/>
                </a:ln>
                <a:solidFill>
                  <a:schemeClr val="tx1"/>
                </a:solidFill>
                <a:effectLst/>
                <a:latin typeface="Bahnschrift Condensed" panose="020B0502040204020203" pitchFamily="34" charset="0"/>
              </a:rPr>
              <a:t>Fill or remove rows where Sales/Profit values are missing.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Bahnschrift Condensed" panose="020B0502040204020203" pitchFamily="34" charset="0"/>
              </a:rPr>
              <a:t>Correct data types</a:t>
            </a:r>
            <a:br>
              <a:rPr kumimoji="0" lang="en-US" altLang="en-US" b="0" i="0" u="none" strike="noStrike" cap="none" normalizeH="0" baseline="0" dirty="0">
                <a:ln>
                  <a:noFill/>
                </a:ln>
                <a:solidFill>
                  <a:schemeClr val="tx1"/>
                </a:solidFill>
                <a:effectLst/>
                <a:latin typeface="Bahnschrift Condensed" panose="020B0502040204020203" pitchFamily="34" charset="0"/>
              </a:rPr>
            </a:br>
            <a:r>
              <a:rPr kumimoji="0" lang="en-US" altLang="en-US" b="0" i="0" u="none" strike="noStrike" cap="none" normalizeH="0" baseline="0" dirty="0">
                <a:ln>
                  <a:noFill/>
                </a:ln>
                <a:solidFill>
                  <a:schemeClr val="tx1"/>
                </a:solidFill>
                <a:effectLst/>
                <a:latin typeface="Bahnschrift Condensed" panose="020B0502040204020203" pitchFamily="34" charset="0"/>
              </a:rPr>
              <a:t>Convert Order Date to Date type, numeric fields to float/int.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Bahnschrift Condensed" panose="020B0502040204020203" pitchFamily="34" charset="0"/>
              </a:rPr>
              <a:t>Fix inconsistent text</a:t>
            </a:r>
            <a:br>
              <a:rPr kumimoji="0" lang="en-US" altLang="en-US" b="0" i="0" u="none" strike="noStrike" cap="none" normalizeH="0" baseline="0" dirty="0">
                <a:ln>
                  <a:noFill/>
                </a:ln>
                <a:solidFill>
                  <a:schemeClr val="tx1"/>
                </a:solidFill>
                <a:effectLst/>
                <a:latin typeface="Bahnschrift Condensed" panose="020B0502040204020203" pitchFamily="34" charset="0"/>
              </a:rPr>
            </a:br>
            <a:r>
              <a:rPr kumimoji="0" lang="en-US" altLang="en-US" b="0" i="0" u="none" strike="noStrike" cap="none" normalizeH="0" baseline="0" dirty="0">
                <a:ln>
                  <a:noFill/>
                </a:ln>
                <a:solidFill>
                  <a:schemeClr val="tx1"/>
                </a:solidFill>
                <a:effectLst/>
                <a:latin typeface="Bahnschrift Condensed" panose="020B0502040204020203" pitchFamily="34" charset="0"/>
              </a:rPr>
              <a:t>Ensure category, state, and customer names follow a standard format.</a:t>
            </a:r>
          </a:p>
          <a:p>
            <a:r>
              <a:rPr lang="en-US" b="1" dirty="0">
                <a:solidFill>
                  <a:schemeClr val="tx1"/>
                </a:solidFill>
                <a:latin typeface="Bahnschrift Condensed" panose="020B0502040204020203" pitchFamily="34" charset="0"/>
              </a:rPr>
              <a:t>3.</a:t>
            </a:r>
            <a:r>
              <a:rPr lang="en-US" b="1" dirty="0">
                <a:latin typeface="Bahnschrift Condensed" panose="020B0502040204020203" pitchFamily="34" charset="0"/>
              </a:rPr>
              <a:t> </a:t>
            </a:r>
            <a:r>
              <a:rPr lang="en-US" dirty="0">
                <a:solidFill>
                  <a:schemeClr val="tx1"/>
                </a:solidFill>
                <a:latin typeface="Bahnschrift Condensed" panose="020B0502040204020203" pitchFamily="34" charset="0"/>
              </a:rPr>
              <a:t>Data Transformation</a:t>
            </a:r>
          </a:p>
          <a:p>
            <a:pPr marL="285750" indent="-285750">
              <a:buFont typeface="Arial" panose="020B0604020202020204" pitchFamily="34" charset="0"/>
              <a:buChar char="•"/>
            </a:pPr>
            <a:r>
              <a:rPr lang="en-US" dirty="0">
                <a:solidFill>
                  <a:schemeClr val="tx1"/>
                </a:solidFill>
                <a:latin typeface="Bahnschrift Condensed" panose="020B0502040204020203" pitchFamily="34" charset="0"/>
              </a:rPr>
              <a:t>Create new columns</a:t>
            </a:r>
          </a:p>
          <a:p>
            <a:pPr marL="742950" lvl="1" indent="-285750">
              <a:buFont typeface="Arial" panose="020B0604020202020204" pitchFamily="34" charset="0"/>
              <a:buChar char="•"/>
            </a:pPr>
            <a:r>
              <a:rPr lang="en-US" dirty="0">
                <a:solidFill>
                  <a:schemeClr val="tx1"/>
                </a:solidFill>
                <a:latin typeface="Bahnschrift Condensed" panose="020B0502040204020203" pitchFamily="34" charset="0"/>
              </a:rPr>
              <a:t>Year extracted from Order Date</a:t>
            </a:r>
          </a:p>
          <a:p>
            <a:pPr marL="742950" lvl="1" indent="-285750">
              <a:buFont typeface="Arial" panose="020B0604020202020204" pitchFamily="34" charset="0"/>
              <a:buChar char="•"/>
            </a:pPr>
            <a:r>
              <a:rPr lang="en-US" dirty="0">
                <a:solidFill>
                  <a:schemeClr val="tx1"/>
                </a:solidFill>
                <a:latin typeface="Bahnschrift Condensed" panose="020B0502040204020203" pitchFamily="34" charset="0"/>
              </a:rPr>
              <a:t>Month Name for month-wise visualizations</a:t>
            </a:r>
          </a:p>
          <a:p>
            <a:pPr marL="742950" lvl="1" indent="-285750">
              <a:buFont typeface="Arial" panose="020B0604020202020204" pitchFamily="34" charset="0"/>
              <a:buChar char="•"/>
            </a:pPr>
            <a:r>
              <a:rPr lang="en-US" dirty="0">
                <a:solidFill>
                  <a:schemeClr val="tx1"/>
                </a:solidFill>
                <a:latin typeface="Bahnschrift Condensed" panose="020B0502040204020203" pitchFamily="34" charset="0"/>
              </a:rPr>
              <a:t>Profit Margin = Profit / Sales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30" name="Rectangle 20">
            <a:extLst>
              <a:ext uri="{FF2B5EF4-FFF2-40B4-BE49-F238E27FC236}">
                <a16:creationId xmlns:a16="http://schemas.microsoft.com/office/drawing/2014/main" id="{AF7E3A75-C8A3-4EC6-B1BE-7E83EA1A55EB}"/>
              </a:ext>
            </a:extLst>
          </p:cNvPr>
          <p:cNvSpPr>
            <a:spLocks noChangeArrowheads="1"/>
          </p:cNvSpPr>
          <p:nvPr/>
        </p:nvSpPr>
        <p:spPr bwMode="auto">
          <a:xfrm>
            <a:off x="0" y="37851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2B0D16-C4A1-4B07-94B5-55AA73566025}"/>
              </a:ext>
            </a:extLst>
          </p:cNvPr>
          <p:cNvSpPr/>
          <p:nvPr/>
        </p:nvSpPr>
        <p:spPr>
          <a:xfrm>
            <a:off x="838200" y="266700"/>
            <a:ext cx="8153400" cy="6324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Condensed" panose="020B0502040204020203" pitchFamily="34" charset="0"/>
              </a:rPr>
              <a:t>4. Data Filtering</a:t>
            </a:r>
          </a:p>
          <a:p>
            <a:r>
              <a:rPr lang="en-US" dirty="0">
                <a:solidFill>
                  <a:schemeClr val="tx1"/>
                </a:solidFill>
                <a:latin typeface="Bahnschrift Condensed" panose="020B0502040204020203" pitchFamily="34" charset="0"/>
              </a:rPr>
              <a:t>Prepare slicers/filters for:</a:t>
            </a:r>
          </a:p>
          <a:p>
            <a:pPr lvl="1">
              <a:buFont typeface="Arial" panose="020B0604020202020204" pitchFamily="34" charset="0"/>
              <a:buChar char="•"/>
            </a:pPr>
            <a:r>
              <a:rPr lang="en-US" dirty="0">
                <a:solidFill>
                  <a:schemeClr val="tx1"/>
                </a:solidFill>
                <a:latin typeface="Bahnschrift Condensed" panose="020B0502040204020203" pitchFamily="34" charset="0"/>
              </a:rPr>
              <a:t>Category</a:t>
            </a:r>
          </a:p>
          <a:p>
            <a:pPr lvl="1">
              <a:buFont typeface="Arial" panose="020B0604020202020204" pitchFamily="34" charset="0"/>
              <a:buChar char="•"/>
            </a:pPr>
            <a:r>
              <a:rPr lang="en-US" dirty="0">
                <a:solidFill>
                  <a:schemeClr val="tx1"/>
                </a:solidFill>
                <a:latin typeface="Bahnschrift Condensed" panose="020B0502040204020203" pitchFamily="34" charset="0"/>
              </a:rPr>
              <a:t>Year</a:t>
            </a:r>
          </a:p>
          <a:p>
            <a:pPr lvl="1">
              <a:buFont typeface="Arial" panose="020B0604020202020204" pitchFamily="34" charset="0"/>
              <a:buChar char="•"/>
            </a:pPr>
            <a:r>
              <a:rPr lang="en-US" dirty="0">
                <a:solidFill>
                  <a:schemeClr val="tx1"/>
                </a:solidFill>
                <a:latin typeface="Bahnschrift Condensed" panose="020B0502040204020203" pitchFamily="34" charset="0"/>
              </a:rPr>
              <a:t>Month</a:t>
            </a:r>
            <a:br>
              <a:rPr lang="en-US" dirty="0">
                <a:solidFill>
                  <a:schemeClr val="tx1"/>
                </a:solidFill>
                <a:latin typeface="Bahnschrift Condensed" panose="020B0502040204020203" pitchFamily="34" charset="0"/>
              </a:rPr>
            </a:br>
            <a:r>
              <a:rPr lang="en-US" dirty="0">
                <a:solidFill>
                  <a:schemeClr val="tx1"/>
                </a:solidFill>
                <a:latin typeface="Bahnschrift Condensed" panose="020B0502040204020203" pitchFamily="34" charset="0"/>
              </a:rPr>
              <a:t>These help users interact with the dashboard easily.</a:t>
            </a:r>
          </a:p>
          <a:p>
            <a:pPr lvl="1"/>
            <a:endParaRPr lang="en-US" dirty="0">
              <a:solidFill>
                <a:schemeClr val="tx1"/>
              </a:solidFill>
              <a:latin typeface="Bahnschrift Condensed" panose="020B0502040204020203" pitchFamily="34" charset="0"/>
            </a:endParaRPr>
          </a:p>
          <a:p>
            <a:r>
              <a:rPr lang="en-US" dirty="0">
                <a:solidFill>
                  <a:schemeClr val="tx1"/>
                </a:solidFill>
                <a:latin typeface="Bahnschrift Condensed" panose="020B0502040204020203" pitchFamily="34" charset="0"/>
              </a:rPr>
              <a:t>5. Data Integration</a:t>
            </a:r>
          </a:p>
          <a:p>
            <a:pPr lvl="1">
              <a:buFont typeface="Arial" panose="020B0604020202020204" pitchFamily="34" charset="0"/>
              <a:buChar char="•"/>
            </a:pPr>
            <a:r>
              <a:rPr lang="en-US" dirty="0">
                <a:solidFill>
                  <a:schemeClr val="tx1"/>
                </a:solidFill>
                <a:latin typeface="Bahnschrift Condensed" panose="020B0502040204020203" pitchFamily="34" charset="0"/>
              </a:rPr>
              <a:t>Combine multiple tables (if any) using VLOOKUP, XLOOKUP, or Power Query merges.</a:t>
            </a:r>
          </a:p>
          <a:p>
            <a:pPr lvl="1">
              <a:buFont typeface="Arial" panose="020B0604020202020204" pitchFamily="34" charset="0"/>
              <a:buChar char="•"/>
            </a:pPr>
            <a:r>
              <a:rPr lang="en-US" dirty="0">
                <a:solidFill>
                  <a:schemeClr val="tx1"/>
                </a:solidFill>
                <a:latin typeface="Bahnschrift Condensed" panose="020B0502040204020203" pitchFamily="34" charset="0"/>
              </a:rPr>
              <a:t>Ensure relationships between tables are correctly defined (in Power BI or Excel Data Model).</a:t>
            </a:r>
          </a:p>
          <a:p>
            <a:pPr lvl="1">
              <a:buFont typeface="Arial" panose="020B0604020202020204" pitchFamily="34" charset="0"/>
              <a:buChar char="•"/>
            </a:pPr>
            <a:endParaRPr lang="en-US" dirty="0">
              <a:solidFill>
                <a:schemeClr val="tx1"/>
              </a:solidFill>
              <a:latin typeface="Bahnschrift Condensed" panose="020B0502040204020203" pitchFamily="34" charset="0"/>
            </a:endParaRPr>
          </a:p>
          <a:p>
            <a:r>
              <a:rPr lang="en-US" dirty="0">
                <a:solidFill>
                  <a:schemeClr val="tx1"/>
                </a:solidFill>
                <a:latin typeface="Bahnschrift Condensed" panose="020B0502040204020203" pitchFamily="34" charset="0"/>
              </a:rPr>
              <a:t>6. Data Validation</a:t>
            </a:r>
          </a:p>
          <a:p>
            <a:pPr lvl="1">
              <a:buFont typeface="Arial" panose="020B0604020202020204" pitchFamily="34" charset="0"/>
              <a:buChar char="•"/>
            </a:pPr>
            <a:r>
              <a:rPr lang="en-US" dirty="0">
                <a:solidFill>
                  <a:schemeClr val="tx1"/>
                </a:solidFill>
                <a:latin typeface="Bahnschrift Condensed" panose="020B0502040204020203" pitchFamily="34" charset="0"/>
              </a:rPr>
              <a:t>Verify totals match the original source files.</a:t>
            </a:r>
          </a:p>
          <a:p>
            <a:pPr lvl="1">
              <a:buFont typeface="Arial" panose="020B0604020202020204" pitchFamily="34" charset="0"/>
              <a:buChar char="•"/>
            </a:pPr>
            <a:r>
              <a:rPr lang="en-US" dirty="0">
                <a:solidFill>
                  <a:schemeClr val="tx1"/>
                </a:solidFill>
                <a:latin typeface="Bahnschrift Condensed" panose="020B0502040204020203" pitchFamily="34" charset="0"/>
              </a:rPr>
              <a:t>Check for negative or unrealistic profit values.</a:t>
            </a:r>
          </a:p>
          <a:p>
            <a:pPr lvl="1">
              <a:buFont typeface="Arial" panose="020B0604020202020204" pitchFamily="34" charset="0"/>
              <a:buChar char="•"/>
            </a:pPr>
            <a:r>
              <a:rPr lang="en-US" dirty="0">
                <a:solidFill>
                  <a:schemeClr val="tx1"/>
                </a:solidFill>
                <a:latin typeface="Bahnschrift Condensed" panose="020B0502040204020203" pitchFamily="34" charset="0"/>
              </a:rPr>
              <a:t>Confirm that grouped results (e.g., Top 5 customers) are accurate.</a:t>
            </a:r>
          </a:p>
          <a:p>
            <a:pPr lvl="1">
              <a:buFont typeface="Arial" panose="020B0604020202020204" pitchFamily="34" charset="0"/>
              <a:buChar char="•"/>
            </a:pPr>
            <a:endParaRPr lang="en-US" dirty="0">
              <a:solidFill>
                <a:schemeClr val="tx1"/>
              </a:solidFill>
              <a:latin typeface="Bahnschrift Condensed" panose="020B0502040204020203" pitchFamily="34" charset="0"/>
            </a:endParaRPr>
          </a:p>
          <a:p>
            <a:r>
              <a:rPr lang="en-US" dirty="0">
                <a:solidFill>
                  <a:schemeClr val="tx1"/>
                </a:solidFill>
                <a:latin typeface="Bahnschrift Condensed" panose="020B0502040204020203" pitchFamily="34" charset="0"/>
              </a:rPr>
              <a:t>7. Data Visualization Preparation</a:t>
            </a:r>
          </a:p>
          <a:p>
            <a:r>
              <a:rPr lang="en-US" dirty="0">
                <a:solidFill>
                  <a:schemeClr val="tx1"/>
                </a:solidFill>
                <a:latin typeface="Bahnschrift Condensed" panose="020B0502040204020203" pitchFamily="34" charset="0"/>
              </a:rPr>
              <a:t>   Convert processed data into a visualization-ready structure:</a:t>
            </a:r>
          </a:p>
          <a:p>
            <a:pPr lvl="1">
              <a:buFont typeface="Arial" panose="020B0604020202020204" pitchFamily="34" charset="0"/>
              <a:buChar char="•"/>
            </a:pPr>
            <a:r>
              <a:rPr lang="en-US" dirty="0">
                <a:solidFill>
                  <a:schemeClr val="tx1"/>
                </a:solidFill>
                <a:latin typeface="Bahnschrift Condensed" panose="020B0502040204020203" pitchFamily="34" charset="0"/>
              </a:rPr>
              <a:t>Pivot Tables</a:t>
            </a:r>
          </a:p>
          <a:p>
            <a:pPr lvl="1">
              <a:buFont typeface="Arial" panose="020B0604020202020204" pitchFamily="34" charset="0"/>
              <a:buChar char="•"/>
            </a:pPr>
            <a:r>
              <a:rPr lang="en-US" dirty="0">
                <a:solidFill>
                  <a:schemeClr val="tx1"/>
                </a:solidFill>
                <a:latin typeface="Bahnschrift Condensed" panose="020B0502040204020203" pitchFamily="34" charset="0"/>
              </a:rPr>
              <a:t>Measures (DAX, if Power BI)</a:t>
            </a:r>
          </a:p>
          <a:p>
            <a:pPr lvl="1">
              <a:buFont typeface="Arial" panose="020B0604020202020204" pitchFamily="34" charset="0"/>
              <a:buChar char="•"/>
            </a:pPr>
            <a:r>
              <a:rPr lang="en-US" dirty="0">
                <a:solidFill>
                  <a:schemeClr val="tx1"/>
                </a:solidFill>
                <a:latin typeface="Bahnschrift Condensed" panose="020B0502040204020203" pitchFamily="34" charset="0"/>
              </a:rPr>
              <a:t>Aggregated tables for charts</a:t>
            </a:r>
          </a:p>
          <a:p>
            <a:pPr lvl="1">
              <a:buFont typeface="Arial" panose="020B0604020202020204" pitchFamily="34" charset="0"/>
              <a:buChar char="•"/>
            </a:pPr>
            <a:r>
              <a:rPr lang="en-US" dirty="0">
                <a:solidFill>
                  <a:schemeClr val="tx1"/>
                </a:solidFill>
                <a:latin typeface="Bahnschrift Condensed" panose="020B0502040204020203" pitchFamily="34" charset="0"/>
              </a:rPr>
              <a:t>KPI cards data (Total Sales, Total Profit)</a:t>
            </a:r>
          </a:p>
          <a:p>
            <a:endParaRPr lang="en-US" dirty="0"/>
          </a:p>
        </p:txBody>
      </p:sp>
    </p:spTree>
    <p:extLst>
      <p:ext uri="{BB962C8B-B14F-4D97-AF65-F5344CB8AC3E}">
        <p14:creationId xmlns:p14="http://schemas.microsoft.com/office/powerpoint/2010/main" val="361170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04377C-D491-484C-8490-83F23C42AC03}"/>
              </a:ext>
            </a:extLst>
          </p:cNvPr>
          <p:cNvSpPr/>
          <p:nvPr/>
        </p:nvSpPr>
        <p:spPr>
          <a:xfrm>
            <a:off x="990600" y="609600"/>
            <a:ext cx="7772400" cy="464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Condensed" panose="020B0502040204020203" pitchFamily="34" charset="0"/>
              </a:rPr>
              <a:t>8. Dashboard Assembly</a:t>
            </a:r>
          </a:p>
          <a:p>
            <a:r>
              <a:rPr lang="en-US" dirty="0">
                <a:solidFill>
                  <a:schemeClr val="tx1"/>
                </a:solidFill>
                <a:latin typeface="Bahnschrift Condensed" panose="020B0502040204020203" pitchFamily="34" charset="0"/>
              </a:rPr>
              <a:t>    Use the cleaned &amp; summarized data to build:</a:t>
            </a:r>
          </a:p>
          <a:p>
            <a:pPr lvl="1">
              <a:buFont typeface="Arial" panose="020B0604020202020204" pitchFamily="34" charset="0"/>
              <a:buChar char="•"/>
            </a:pPr>
            <a:r>
              <a:rPr lang="en-US" dirty="0">
                <a:solidFill>
                  <a:schemeClr val="tx1"/>
                </a:solidFill>
                <a:latin typeface="Bahnschrift Condensed" panose="020B0502040204020203" pitchFamily="34" charset="0"/>
              </a:rPr>
              <a:t>Monthly Sales Chart</a:t>
            </a:r>
          </a:p>
          <a:p>
            <a:pPr lvl="1">
              <a:buFont typeface="Arial" panose="020B0604020202020204" pitchFamily="34" charset="0"/>
              <a:buChar char="•"/>
            </a:pPr>
            <a:r>
              <a:rPr lang="en-US" dirty="0">
                <a:solidFill>
                  <a:schemeClr val="tx1"/>
                </a:solidFill>
                <a:latin typeface="Bahnschrift Condensed" panose="020B0502040204020203" pitchFamily="34" charset="0"/>
              </a:rPr>
              <a:t>Profit by Sales Chart</a:t>
            </a:r>
          </a:p>
          <a:p>
            <a:pPr lvl="1">
              <a:buFont typeface="Arial" panose="020B0604020202020204" pitchFamily="34" charset="0"/>
              <a:buChar char="•"/>
            </a:pPr>
            <a:r>
              <a:rPr lang="en-US" dirty="0">
                <a:solidFill>
                  <a:schemeClr val="tx1"/>
                </a:solidFill>
                <a:latin typeface="Bahnschrift Condensed" panose="020B0502040204020203" pitchFamily="34" charset="0"/>
              </a:rPr>
              <a:t>Category-wise Sales Bar Chart</a:t>
            </a:r>
          </a:p>
          <a:p>
            <a:pPr lvl="1">
              <a:buFont typeface="Arial" panose="020B0604020202020204" pitchFamily="34" charset="0"/>
              <a:buChar char="•"/>
            </a:pPr>
            <a:r>
              <a:rPr lang="en-US" dirty="0">
                <a:solidFill>
                  <a:schemeClr val="tx1"/>
                </a:solidFill>
                <a:latin typeface="Bahnschrift Condensed" panose="020B0502040204020203" pitchFamily="34" charset="0"/>
              </a:rPr>
              <a:t>Customer Count Donut Chart</a:t>
            </a:r>
          </a:p>
          <a:p>
            <a:pPr lvl="1">
              <a:buFont typeface="Arial" panose="020B0604020202020204" pitchFamily="34" charset="0"/>
              <a:buChar char="•"/>
            </a:pPr>
            <a:r>
              <a:rPr lang="en-US" dirty="0">
                <a:solidFill>
                  <a:schemeClr val="tx1"/>
                </a:solidFill>
                <a:latin typeface="Bahnschrift Condensed" panose="020B0502040204020203" pitchFamily="34" charset="0"/>
              </a:rPr>
              <a:t>State Map Chart</a:t>
            </a:r>
          </a:p>
          <a:p>
            <a:pPr lvl="1">
              <a:buFont typeface="Arial" panose="020B0604020202020204" pitchFamily="34" charset="0"/>
              <a:buChar char="•"/>
            </a:pPr>
            <a:r>
              <a:rPr lang="en-US" dirty="0">
                <a:solidFill>
                  <a:schemeClr val="tx1"/>
                </a:solidFill>
                <a:latin typeface="Bahnschrift Condensed" panose="020B0502040204020203" pitchFamily="34" charset="0"/>
              </a:rPr>
              <a:t>Top 5 Customers Profit</a:t>
            </a:r>
          </a:p>
          <a:p>
            <a:pPr lvl="1">
              <a:buFont typeface="Arial" panose="020B0604020202020204" pitchFamily="34" charset="0"/>
              <a:buChar char="•"/>
            </a:pPr>
            <a:r>
              <a:rPr lang="en-US" dirty="0">
                <a:solidFill>
                  <a:schemeClr val="tx1"/>
                </a:solidFill>
                <a:latin typeface="Bahnschrift Condensed" panose="020B0502040204020203" pitchFamily="34" charset="0"/>
              </a:rPr>
              <a:t>KPI Cards (Sales + Profit)</a:t>
            </a:r>
          </a:p>
          <a:p>
            <a:pPr lvl="1"/>
            <a:endParaRPr lang="en-US" dirty="0">
              <a:solidFill>
                <a:schemeClr val="tx1"/>
              </a:solidFill>
              <a:latin typeface="Bahnschrift Condensed" panose="020B0502040204020203" pitchFamily="34" charset="0"/>
            </a:endParaRPr>
          </a:p>
          <a:p>
            <a:r>
              <a:rPr lang="en-IN" dirty="0">
                <a:solidFill>
                  <a:schemeClr val="tx1"/>
                </a:solidFill>
                <a:latin typeface="Bahnschrift Condensed" panose="020B0502040204020203" pitchFamily="34" charset="0"/>
              </a:rPr>
              <a:t>9. Final Quality Check</a:t>
            </a:r>
          </a:p>
          <a:p>
            <a:pPr lvl="1">
              <a:buFont typeface="Arial" panose="020B0604020202020204" pitchFamily="34" charset="0"/>
              <a:buChar char="•"/>
            </a:pPr>
            <a:r>
              <a:rPr lang="en-IN" dirty="0">
                <a:solidFill>
                  <a:schemeClr val="tx1"/>
                </a:solidFill>
                <a:latin typeface="Bahnschrift Condensed" panose="020B0502040204020203" pitchFamily="34" charset="0"/>
              </a:rPr>
              <a:t>Check alignment, colors, labels, and slicer functionality.</a:t>
            </a:r>
          </a:p>
          <a:p>
            <a:pPr lvl="1">
              <a:buFont typeface="Arial" panose="020B0604020202020204" pitchFamily="34" charset="0"/>
              <a:buChar char="•"/>
            </a:pPr>
            <a:r>
              <a:rPr lang="en-IN" dirty="0">
                <a:solidFill>
                  <a:schemeClr val="tx1"/>
                </a:solidFill>
                <a:latin typeface="Bahnschrift Condensed" panose="020B0502040204020203" pitchFamily="34" charset="0"/>
              </a:rPr>
              <a:t>Validate formulas and pivot refresh behavior.</a:t>
            </a:r>
          </a:p>
          <a:p>
            <a:pPr lvl="1">
              <a:buFont typeface="Arial" panose="020B0604020202020204" pitchFamily="34" charset="0"/>
              <a:buChar char="•"/>
            </a:pPr>
            <a:r>
              <a:rPr lang="en-IN" dirty="0">
                <a:solidFill>
                  <a:schemeClr val="tx1"/>
                </a:solidFill>
                <a:latin typeface="Bahnschrift Condensed" panose="020B0502040204020203" pitchFamily="34" charset="0"/>
              </a:rPr>
              <a:t>Confirm dashboard updates automatically when data changes.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2092105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A41A13D-1F49-47DE-86C7-E72759A1CB79}"/>
              </a:ext>
            </a:extLst>
          </p:cNvPr>
          <p:cNvSpPr/>
          <p:nvPr/>
        </p:nvSpPr>
        <p:spPr>
          <a:xfrm>
            <a:off x="914400" y="457200"/>
            <a:ext cx="9002078"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PLOATING PIVOT AND CHARTS</a:t>
            </a:r>
          </a:p>
        </p:txBody>
      </p:sp>
      <p:sp>
        <p:nvSpPr>
          <p:cNvPr id="10" name="Rectangle 9">
            <a:extLst>
              <a:ext uri="{FF2B5EF4-FFF2-40B4-BE49-F238E27FC236}">
                <a16:creationId xmlns:a16="http://schemas.microsoft.com/office/drawing/2014/main" id="{AEAA97A2-6410-4C68-97D6-4AE4E5A3CF3B}"/>
              </a:ext>
            </a:extLst>
          </p:cNvPr>
          <p:cNvSpPr/>
          <p:nvPr/>
        </p:nvSpPr>
        <p:spPr>
          <a:xfrm>
            <a:off x="381000" y="1371600"/>
            <a:ext cx="5944553" cy="502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45BDB6B6-9DB4-4238-8C46-0122697CEBEA}"/>
              </a:ext>
            </a:extLst>
          </p:cNvPr>
          <p:cNvSpPr/>
          <p:nvPr/>
        </p:nvSpPr>
        <p:spPr>
          <a:xfrm>
            <a:off x="5448776" y="1943099"/>
            <a:ext cx="5105400" cy="259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Condensed" panose="020B0502040204020203" pitchFamily="34" charset="0"/>
              </a:rPr>
              <a:t>Profit by Sales (Clustered column chart)</a:t>
            </a:r>
          </a:p>
          <a:p>
            <a:endParaRPr lang="en-US" dirty="0">
              <a:solidFill>
                <a:schemeClr val="tx1"/>
              </a:solidFill>
              <a:latin typeface="Bahnschrift Condensed" panose="020B0502040204020203" pitchFamily="34" charset="0"/>
            </a:endParaRPr>
          </a:p>
          <a:p>
            <a:br>
              <a:rPr lang="en-US" dirty="0">
                <a:solidFill>
                  <a:schemeClr val="tx1"/>
                </a:solidFill>
                <a:latin typeface="Bahnschrift Condensed" panose="020B0502040204020203" pitchFamily="34" charset="0"/>
              </a:rPr>
            </a:br>
            <a:r>
              <a:rPr lang="en-US" dirty="0">
                <a:solidFill>
                  <a:schemeClr val="tx1"/>
                </a:solidFill>
                <a:latin typeface="Bahnschrift Condensed" panose="020B0502040204020203" pitchFamily="34" charset="0"/>
              </a:rPr>
              <a:t>Shows yearly comparison of sales and profit across categories to identify growth and category performance.</a:t>
            </a:r>
            <a:endParaRPr lang="en-IN" dirty="0">
              <a:ln w="0"/>
              <a:solidFill>
                <a:schemeClr val="accent1"/>
              </a:solidFill>
              <a:effectLst>
                <a:outerShdw blurRad="38100" dist="25400" dir="5400000" algn="ctr" rotWithShape="0">
                  <a:srgbClr val="6E747A">
                    <a:alpha val="43000"/>
                  </a:srgbClr>
                </a:outerShdw>
              </a:effectLst>
              <a:latin typeface="Bahnschrift Condensed" panose="020B0502040204020203" pitchFamily="34" charset="0"/>
            </a:endParaRPr>
          </a:p>
        </p:txBody>
      </p:sp>
      <p:pic>
        <p:nvPicPr>
          <p:cNvPr id="23" name="Picture 22">
            <a:extLst>
              <a:ext uri="{FF2B5EF4-FFF2-40B4-BE49-F238E27FC236}">
                <a16:creationId xmlns:a16="http://schemas.microsoft.com/office/drawing/2014/main" id="{6954593D-D00C-4559-8A22-1F3784B09548}"/>
              </a:ext>
            </a:extLst>
          </p:cNvPr>
          <p:cNvPicPr>
            <a:picLocks noChangeAspect="1"/>
          </p:cNvPicPr>
          <p:nvPr/>
        </p:nvPicPr>
        <p:blipFill>
          <a:blip r:embed="rId2"/>
          <a:stretch>
            <a:fillRect/>
          </a:stretch>
        </p:blipFill>
        <p:spPr>
          <a:xfrm>
            <a:off x="609600" y="1943099"/>
            <a:ext cx="4495800" cy="2971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793BD77-9502-4F25-BDD6-F97B8D45BBD5}"/>
              </a:ext>
            </a:extLst>
          </p:cNvPr>
          <p:cNvSpPr/>
          <p:nvPr/>
        </p:nvSpPr>
        <p:spPr>
          <a:xfrm>
            <a:off x="5562600" y="1295400"/>
            <a:ext cx="3962400" cy="3200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Bahnschrift Condensed" panose="020B0502040204020203" pitchFamily="34" charset="0"/>
              </a:rPr>
              <a:t>Sales by Category (funnel chart)</a:t>
            </a:r>
          </a:p>
          <a:p>
            <a:endParaRPr lang="en-US" b="1" dirty="0">
              <a:solidFill>
                <a:schemeClr val="tx1"/>
              </a:solidFill>
              <a:latin typeface="Bahnschrift Condensed" panose="020B0502040204020203" pitchFamily="34" charset="0"/>
            </a:endParaRPr>
          </a:p>
          <a:p>
            <a:br>
              <a:rPr lang="en-US" b="1" dirty="0">
                <a:solidFill>
                  <a:schemeClr val="tx1"/>
                </a:solidFill>
                <a:latin typeface="Bahnschrift Condensed" panose="020B0502040204020203" pitchFamily="34" charset="0"/>
              </a:rPr>
            </a:br>
            <a:r>
              <a:rPr lang="en-US" b="1" dirty="0">
                <a:solidFill>
                  <a:schemeClr val="tx1"/>
                </a:solidFill>
                <a:latin typeface="Bahnschrift Condensed" panose="020B0502040204020203" pitchFamily="34" charset="0"/>
              </a:rPr>
              <a:t>Highlights which product categories contribute the most revenue, helping identify top-selling items.</a:t>
            </a:r>
            <a:endParaRPr lang="en-IN" b="1" dirty="0">
              <a:solidFill>
                <a:schemeClr val="tx1"/>
              </a:solidFill>
              <a:latin typeface="Bahnschrift Condensed" panose="020B0502040204020203" pitchFamily="34" charset="0"/>
            </a:endParaRPr>
          </a:p>
        </p:txBody>
      </p:sp>
      <p:pic>
        <p:nvPicPr>
          <p:cNvPr id="17" name="Picture 16">
            <a:extLst>
              <a:ext uri="{FF2B5EF4-FFF2-40B4-BE49-F238E27FC236}">
                <a16:creationId xmlns:a16="http://schemas.microsoft.com/office/drawing/2014/main" id="{DD50C452-9046-407A-A92A-880EAE4835A6}"/>
              </a:ext>
            </a:extLst>
          </p:cNvPr>
          <p:cNvPicPr>
            <a:picLocks noChangeAspect="1"/>
          </p:cNvPicPr>
          <p:nvPr/>
        </p:nvPicPr>
        <p:blipFill>
          <a:blip r:embed="rId2"/>
          <a:stretch>
            <a:fillRect/>
          </a:stretch>
        </p:blipFill>
        <p:spPr>
          <a:xfrm>
            <a:off x="685800" y="1066800"/>
            <a:ext cx="4419600" cy="40219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812B9C-6356-4A7E-9115-09AE40FE6560}"/>
              </a:ext>
            </a:extLst>
          </p:cNvPr>
          <p:cNvSpPr>
            <a:spLocks noGrp="1"/>
          </p:cNvSpPr>
          <p:nvPr>
            <p:ph type="ctrTitle"/>
          </p:nvPr>
        </p:nvSpPr>
        <p:spPr>
          <a:xfrm>
            <a:off x="5638800" y="1981076"/>
            <a:ext cx="3710940" cy="1384995"/>
          </a:xfrm>
          <a:ln>
            <a:noFill/>
          </a:ln>
        </p:spPr>
        <p:txBody>
          <a:bodyPr/>
          <a:lstStyle/>
          <a:p>
            <a:r>
              <a:rPr lang="en-US" sz="1800" b="0" dirty="0">
                <a:latin typeface="Bahnschrift Condensed" panose="020B0502040204020203" pitchFamily="34" charset="0"/>
              </a:rPr>
              <a:t>Customer Count (Donut Chart)</a:t>
            </a:r>
            <a:br>
              <a:rPr lang="en-US" sz="1800" b="0" dirty="0">
                <a:latin typeface="Bahnschrift Condensed" panose="020B0502040204020203" pitchFamily="34" charset="0"/>
              </a:rPr>
            </a:b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Displays the number of customers each year, showing growth or decline in customer base.</a:t>
            </a:r>
            <a:endParaRPr lang="en-IN" sz="1800" b="0" dirty="0">
              <a:latin typeface="Bahnschrift Condensed" panose="020B0502040204020203" pitchFamily="34" charset="0"/>
            </a:endParaRPr>
          </a:p>
        </p:txBody>
      </p:sp>
      <p:pic>
        <p:nvPicPr>
          <p:cNvPr id="13" name="Picture 12">
            <a:extLst>
              <a:ext uri="{FF2B5EF4-FFF2-40B4-BE49-F238E27FC236}">
                <a16:creationId xmlns:a16="http://schemas.microsoft.com/office/drawing/2014/main" id="{DD77B32B-C96E-42E3-A58F-00BF8DDF7A85}"/>
              </a:ext>
            </a:extLst>
          </p:cNvPr>
          <p:cNvPicPr>
            <a:picLocks noChangeAspect="1"/>
          </p:cNvPicPr>
          <p:nvPr/>
        </p:nvPicPr>
        <p:blipFill>
          <a:blip r:embed="rId2"/>
          <a:stretch>
            <a:fillRect/>
          </a:stretch>
        </p:blipFill>
        <p:spPr>
          <a:xfrm>
            <a:off x="518160" y="1371600"/>
            <a:ext cx="4648200" cy="34380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5715000" y="2020642"/>
            <a:ext cx="3810000" cy="2283316"/>
          </a:xfrm>
          <a:custGeom>
            <a:avLst/>
            <a:gdLst/>
            <a:ahLst/>
            <a:cxnLst/>
            <a:rect l="l" t="t" r="r" b="b"/>
            <a:pathLst>
              <a:path w="4152265" h="1050925">
                <a:moveTo>
                  <a:pt x="4142473" y="1041273"/>
                </a:moveTo>
                <a:lnTo>
                  <a:pt x="9144" y="1041273"/>
                </a:lnTo>
                <a:lnTo>
                  <a:pt x="9144" y="115900"/>
                </a:lnTo>
                <a:lnTo>
                  <a:pt x="0" y="115900"/>
                </a:lnTo>
                <a:lnTo>
                  <a:pt x="0" y="1041273"/>
                </a:lnTo>
                <a:lnTo>
                  <a:pt x="0" y="1050417"/>
                </a:lnTo>
                <a:lnTo>
                  <a:pt x="9144" y="1050417"/>
                </a:lnTo>
                <a:lnTo>
                  <a:pt x="4142473" y="1050417"/>
                </a:lnTo>
                <a:lnTo>
                  <a:pt x="4142473" y="1041273"/>
                </a:lnTo>
                <a:close/>
              </a:path>
              <a:path w="4152265" h="1050925">
                <a:moveTo>
                  <a:pt x="4142473" y="0"/>
                </a:moveTo>
                <a:lnTo>
                  <a:pt x="9144" y="0"/>
                </a:lnTo>
                <a:lnTo>
                  <a:pt x="0" y="0"/>
                </a:lnTo>
                <a:lnTo>
                  <a:pt x="0" y="9144"/>
                </a:lnTo>
                <a:lnTo>
                  <a:pt x="0" y="115824"/>
                </a:lnTo>
                <a:lnTo>
                  <a:pt x="9144" y="115824"/>
                </a:lnTo>
                <a:lnTo>
                  <a:pt x="9144" y="9144"/>
                </a:lnTo>
                <a:lnTo>
                  <a:pt x="4142473" y="9144"/>
                </a:lnTo>
                <a:lnTo>
                  <a:pt x="4142473" y="0"/>
                </a:lnTo>
                <a:close/>
              </a:path>
              <a:path w="4152265" h="1050925">
                <a:moveTo>
                  <a:pt x="4151744" y="115900"/>
                </a:moveTo>
                <a:lnTo>
                  <a:pt x="4142613" y="115900"/>
                </a:lnTo>
                <a:lnTo>
                  <a:pt x="4142613" y="1041273"/>
                </a:lnTo>
                <a:lnTo>
                  <a:pt x="4142613" y="1050417"/>
                </a:lnTo>
                <a:lnTo>
                  <a:pt x="4151744" y="1050417"/>
                </a:lnTo>
                <a:lnTo>
                  <a:pt x="4151744" y="1041273"/>
                </a:lnTo>
                <a:lnTo>
                  <a:pt x="4151744" y="115900"/>
                </a:lnTo>
                <a:close/>
              </a:path>
              <a:path w="4152265" h="1050925">
                <a:moveTo>
                  <a:pt x="4151744" y="0"/>
                </a:moveTo>
                <a:lnTo>
                  <a:pt x="4142613" y="0"/>
                </a:lnTo>
                <a:lnTo>
                  <a:pt x="4142613" y="9144"/>
                </a:lnTo>
                <a:lnTo>
                  <a:pt x="4142613" y="115824"/>
                </a:lnTo>
                <a:lnTo>
                  <a:pt x="4151744" y="115824"/>
                </a:lnTo>
                <a:lnTo>
                  <a:pt x="4151744" y="9144"/>
                </a:lnTo>
                <a:lnTo>
                  <a:pt x="4151744" y="0"/>
                </a:lnTo>
                <a:close/>
              </a:path>
            </a:pathLst>
          </a:custGeom>
          <a:noFill/>
          <a:ln>
            <a:noFill/>
          </a:ln>
        </p:spPr>
        <p:txBody>
          <a:bodyPr wrap="square" lIns="0" tIns="0" rIns="0" bIns="0" rtlCol="0"/>
          <a:lstStyle/>
          <a:p>
            <a:r>
              <a:rPr lang="en-US" dirty="0">
                <a:latin typeface="Bahnschrift Condensed" panose="020B0502040204020203" pitchFamily="34" charset="0"/>
              </a:rPr>
              <a:t>Sales by State (Map Chart)</a:t>
            </a:r>
          </a:p>
          <a:p>
            <a:endParaRPr lang="en-US" dirty="0">
              <a:latin typeface="Bahnschrift Condensed" panose="020B0502040204020203" pitchFamily="34" charset="0"/>
            </a:endParaRPr>
          </a:p>
          <a:p>
            <a:br>
              <a:rPr lang="en-US" dirty="0">
                <a:latin typeface="Bahnschrift Condensed" panose="020B0502040204020203" pitchFamily="34" charset="0"/>
              </a:rPr>
            </a:br>
            <a:r>
              <a:rPr lang="en-US" dirty="0">
                <a:latin typeface="Bahnschrift Condensed" panose="020B0502040204020203" pitchFamily="34" charset="0"/>
              </a:rPr>
              <a:t>Provides a geographical view of sales distribution, helping identify strong and weak regions.</a:t>
            </a:r>
            <a:endParaRPr dirty="0">
              <a:latin typeface="Bahnschrift Condensed" panose="020B0502040204020203" pitchFamily="34" charset="0"/>
            </a:endParaRPr>
          </a:p>
        </p:txBody>
      </p:sp>
      <p:pic>
        <p:nvPicPr>
          <p:cNvPr id="14" name="Picture 13">
            <a:extLst>
              <a:ext uri="{FF2B5EF4-FFF2-40B4-BE49-F238E27FC236}">
                <a16:creationId xmlns:a16="http://schemas.microsoft.com/office/drawing/2014/main" id="{7202BA33-F33E-48AA-88A7-8C16C5520D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295400"/>
            <a:ext cx="4800600" cy="3505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DD69C-BE20-4A89-8DCE-6250EA4BBB95}"/>
              </a:ext>
            </a:extLst>
          </p:cNvPr>
          <p:cNvSpPr>
            <a:spLocks noGrp="1"/>
          </p:cNvSpPr>
          <p:nvPr>
            <p:ph type="ctrTitle"/>
          </p:nvPr>
        </p:nvSpPr>
        <p:spPr>
          <a:xfrm>
            <a:off x="5638800" y="2057400"/>
            <a:ext cx="3710940" cy="1661993"/>
          </a:xfrm>
        </p:spPr>
        <p:txBody>
          <a:bodyPr/>
          <a:lstStyle/>
          <a:p>
            <a:br>
              <a:rPr lang="en-US" sz="1800" b="0" dirty="0">
                <a:latin typeface="Bahnschrift Condensed" panose="020B0502040204020203" pitchFamily="34" charset="0"/>
              </a:rPr>
            </a:br>
            <a:r>
              <a:rPr lang="en-US" sz="1800" b="0" dirty="0">
                <a:latin typeface="Bahnschrift Condensed" panose="020B0502040204020203" pitchFamily="34" charset="0"/>
              </a:rPr>
              <a:t>Top 5 Customers Profit (horizontal Bar chart)</a:t>
            </a:r>
            <a:br>
              <a:rPr lang="en-US" sz="1800" b="0" dirty="0">
                <a:latin typeface="Bahnschrift Condensed" panose="020B0502040204020203" pitchFamily="34" charset="0"/>
              </a:rPr>
            </a:b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Ranks customers by the profit they generate, helping target high-value clients.</a:t>
            </a:r>
            <a:endParaRPr lang="en-IN" sz="1800" b="0" dirty="0">
              <a:latin typeface="Bahnschrift Condensed" panose="020B0502040204020203" pitchFamily="34" charset="0"/>
            </a:endParaRPr>
          </a:p>
        </p:txBody>
      </p:sp>
      <p:pic>
        <p:nvPicPr>
          <p:cNvPr id="7" name="Picture 6">
            <a:extLst>
              <a:ext uri="{FF2B5EF4-FFF2-40B4-BE49-F238E27FC236}">
                <a16:creationId xmlns:a16="http://schemas.microsoft.com/office/drawing/2014/main" id="{EADEE622-42A1-4FD0-B0DF-317936259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351534"/>
            <a:ext cx="4799267" cy="3396198"/>
          </a:xfrm>
          <a:prstGeom prst="rect">
            <a:avLst/>
          </a:prstGeom>
        </p:spPr>
      </p:pic>
    </p:spTree>
    <p:extLst>
      <p:ext uri="{BB962C8B-B14F-4D97-AF65-F5344CB8AC3E}">
        <p14:creationId xmlns:p14="http://schemas.microsoft.com/office/powerpoint/2010/main" val="585756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59E4A-497D-4427-8D8A-C7FBCCB3BBB8}"/>
              </a:ext>
            </a:extLst>
          </p:cNvPr>
          <p:cNvSpPr>
            <a:spLocks noGrp="1"/>
          </p:cNvSpPr>
          <p:nvPr>
            <p:ph type="ctrTitle"/>
          </p:nvPr>
        </p:nvSpPr>
        <p:spPr>
          <a:xfrm>
            <a:off x="6057900" y="2362200"/>
            <a:ext cx="3710940" cy="1661993"/>
          </a:xfrm>
        </p:spPr>
        <p:txBody>
          <a:bodyPr/>
          <a:lstStyle/>
          <a:p>
            <a:r>
              <a:rPr lang="en-US" sz="1800" b="0" dirty="0">
                <a:latin typeface="Bahnschrift Condensed" panose="020B0502040204020203" pitchFamily="34" charset="0"/>
              </a:rPr>
              <a:t>Sales by Month (Column chart)</a:t>
            </a:r>
            <a:br>
              <a:rPr lang="en-US" sz="1800" b="0" dirty="0">
                <a:latin typeface="Bahnschrift Condensed" panose="020B0502040204020203" pitchFamily="34" charset="0"/>
              </a:rPr>
            </a:b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Shows monthly performance trends and helps identify peak and low sales periods.</a:t>
            </a:r>
            <a:br>
              <a:rPr lang="en-US" sz="1800" b="0" dirty="0">
                <a:latin typeface="Bahnschrift Condensed" panose="020B0502040204020203" pitchFamily="34" charset="0"/>
              </a:rPr>
            </a:br>
            <a:endParaRPr lang="en-IN" sz="1800" b="0" dirty="0">
              <a:latin typeface="Bahnschrift Condensed" panose="020B0502040204020203" pitchFamily="34" charset="0"/>
            </a:endParaRPr>
          </a:p>
        </p:txBody>
      </p:sp>
      <p:pic>
        <p:nvPicPr>
          <p:cNvPr id="5" name="Picture 4">
            <a:extLst>
              <a:ext uri="{FF2B5EF4-FFF2-40B4-BE49-F238E27FC236}">
                <a16:creationId xmlns:a16="http://schemas.microsoft.com/office/drawing/2014/main" id="{5DEA06E6-B256-414D-8D4D-E0B1C7DDF700}"/>
              </a:ext>
            </a:extLst>
          </p:cNvPr>
          <p:cNvPicPr>
            <a:picLocks noChangeAspect="1"/>
          </p:cNvPicPr>
          <p:nvPr/>
        </p:nvPicPr>
        <p:blipFill>
          <a:blip r:embed="rId2"/>
          <a:stretch>
            <a:fillRect/>
          </a:stretch>
        </p:blipFill>
        <p:spPr>
          <a:xfrm>
            <a:off x="381000" y="1600200"/>
            <a:ext cx="5410200" cy="3372946"/>
          </a:xfrm>
          <a:prstGeom prst="rect">
            <a:avLst/>
          </a:prstGeom>
        </p:spPr>
      </p:pic>
    </p:spTree>
    <p:extLst>
      <p:ext uri="{BB962C8B-B14F-4D97-AF65-F5344CB8AC3E}">
        <p14:creationId xmlns:p14="http://schemas.microsoft.com/office/powerpoint/2010/main" val="3335175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E704-8321-4927-AACD-CDE55CCCDC78}"/>
              </a:ext>
            </a:extLst>
          </p:cNvPr>
          <p:cNvSpPr>
            <a:spLocks noGrp="1"/>
          </p:cNvSpPr>
          <p:nvPr>
            <p:ph type="ctrTitle"/>
          </p:nvPr>
        </p:nvSpPr>
        <p:spPr>
          <a:xfrm>
            <a:off x="1905000" y="457200"/>
            <a:ext cx="6987540" cy="762000"/>
          </a:xfrm>
        </p:spPr>
        <p:txBody>
          <a:bodyPr/>
          <a:lstStyle/>
          <a:p>
            <a:r>
              <a:rPr lang="en-IN" sz="3600" b="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FILTER USE BY SLIDER</a:t>
            </a:r>
          </a:p>
        </p:txBody>
      </p:sp>
      <p:pic>
        <p:nvPicPr>
          <p:cNvPr id="5" name="Picture 4">
            <a:extLst>
              <a:ext uri="{FF2B5EF4-FFF2-40B4-BE49-F238E27FC236}">
                <a16:creationId xmlns:a16="http://schemas.microsoft.com/office/drawing/2014/main" id="{7C82D6BB-18B4-47C7-B3BC-6488BC1096F9}"/>
              </a:ext>
            </a:extLst>
          </p:cNvPr>
          <p:cNvPicPr>
            <a:picLocks noChangeAspect="1"/>
          </p:cNvPicPr>
          <p:nvPr/>
        </p:nvPicPr>
        <p:blipFill>
          <a:blip r:embed="rId2"/>
          <a:stretch>
            <a:fillRect/>
          </a:stretch>
        </p:blipFill>
        <p:spPr>
          <a:xfrm>
            <a:off x="457200" y="2057400"/>
            <a:ext cx="3429000" cy="2590800"/>
          </a:xfrm>
          <a:prstGeom prst="rect">
            <a:avLst/>
          </a:prstGeom>
        </p:spPr>
      </p:pic>
      <p:sp>
        <p:nvSpPr>
          <p:cNvPr id="8" name="Title 1">
            <a:extLst>
              <a:ext uri="{FF2B5EF4-FFF2-40B4-BE49-F238E27FC236}">
                <a16:creationId xmlns:a16="http://schemas.microsoft.com/office/drawing/2014/main" id="{C2BE4095-C073-4810-9A5C-A557F555D2DA}"/>
              </a:ext>
            </a:extLst>
          </p:cNvPr>
          <p:cNvSpPr txBox="1">
            <a:spLocks/>
          </p:cNvSpPr>
          <p:nvPr/>
        </p:nvSpPr>
        <p:spPr>
          <a:xfrm>
            <a:off x="4343400" y="2514600"/>
            <a:ext cx="6987540" cy="1384995"/>
          </a:xfrm>
          <a:prstGeom prst="rect">
            <a:avLst/>
          </a:prstGeom>
        </p:spPr>
        <p:txBody>
          <a:bodyPr vert="horz" wrap="square" lIns="0" tIns="0" rIns="0" bIns="0" rtlCol="0" anchor="t">
            <a:spAutoFit/>
          </a:bodyPr>
          <a:lstStyle>
            <a:lvl1pPr algn="l" defTabSz="457200" rtl="0" eaLnBrk="1" latinLnBrk="0" hangingPunct="1">
              <a:spcBef>
                <a:spcPct val="0"/>
              </a:spcBef>
              <a:buNone/>
              <a:defRPr sz="3250" b="1" i="0" kern="1200">
                <a:solidFill>
                  <a:schemeClr val="tx1"/>
                </a:solidFill>
                <a:latin typeface="Trebuchet MS"/>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b="0" dirty="0">
                <a:latin typeface="Bahnschrift Condensed" panose="020B0502040204020203" pitchFamily="34" charset="0"/>
              </a:rPr>
              <a:t>Category Slicer (Furniture, Office Supplies, Technology)</a:t>
            </a:r>
          </a:p>
          <a:p>
            <a:endParaRPr lang="en-US" sz="1800" b="0" dirty="0">
              <a:latin typeface="Bahnschrift Condensed" panose="020B0502040204020203" pitchFamily="34" charset="0"/>
            </a:endParaRPr>
          </a:p>
          <a:p>
            <a:endParaRPr lang="en-US" sz="1800" b="0" dirty="0">
              <a:latin typeface="Bahnschrift Condensed" panose="020B0502040204020203" pitchFamily="34" charset="0"/>
            </a:endParaRPr>
          </a:p>
          <a:p>
            <a:r>
              <a:rPr lang="en-US" sz="1800" b="0" dirty="0">
                <a:latin typeface="Bahnschrift Condensed" panose="020B0502040204020203" pitchFamily="34" charset="0"/>
              </a:rPr>
              <a:t>Helps filter all charts based on product categories to analyze specific segments.</a:t>
            </a:r>
            <a:br>
              <a:rPr lang="en-US" sz="1800" b="0" dirty="0">
                <a:latin typeface="Bahnschrift Condensed" panose="020B0502040204020203" pitchFamily="34" charset="0"/>
              </a:rPr>
            </a:br>
            <a:r>
              <a:rPr lang="en-US" sz="1800" b="0" dirty="0">
                <a:latin typeface="Bahnschrift Condensed" panose="020B0502040204020203" pitchFamily="34" charset="0"/>
              </a:rPr>
              <a:t>Useful for comparing sales and profit across different product groups.</a:t>
            </a:r>
          </a:p>
        </p:txBody>
      </p:sp>
    </p:spTree>
    <p:extLst>
      <p:ext uri="{BB962C8B-B14F-4D97-AF65-F5344CB8AC3E}">
        <p14:creationId xmlns:p14="http://schemas.microsoft.com/office/powerpoint/2010/main" val="4233131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CA9E5-95B4-43AA-9F1F-D07B9148C22D}"/>
              </a:ext>
            </a:extLst>
          </p:cNvPr>
          <p:cNvSpPr>
            <a:spLocks noGrp="1"/>
          </p:cNvSpPr>
          <p:nvPr>
            <p:ph type="ctrTitle"/>
          </p:nvPr>
        </p:nvSpPr>
        <p:spPr>
          <a:xfrm>
            <a:off x="5257800" y="2149554"/>
            <a:ext cx="3710940" cy="2215991"/>
          </a:xfrm>
        </p:spPr>
        <p:txBody>
          <a:bodyPr/>
          <a:lstStyle/>
          <a:p>
            <a:r>
              <a:rPr lang="en-US" sz="1800" b="0" dirty="0">
                <a:latin typeface="Bahnschrift Condensed" panose="020B0502040204020203" pitchFamily="34" charset="0"/>
              </a:rPr>
              <a:t>Year Slicer (2021, 2022, 2023, 2024)</a:t>
            </a:r>
            <a:br>
              <a:rPr lang="en-US" sz="1800" b="0" dirty="0">
                <a:latin typeface="Bahnschrift Condensed" panose="020B0502040204020203" pitchFamily="34" charset="0"/>
              </a:rPr>
            </a:b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Allows switching the dashboard view by year for quick trend comparison.</a:t>
            </a:r>
            <a:br>
              <a:rPr lang="en-US" sz="1800" b="0" dirty="0">
                <a:latin typeface="Bahnschrift Condensed" panose="020B0502040204020203" pitchFamily="34" charset="0"/>
              </a:rPr>
            </a:br>
            <a:r>
              <a:rPr lang="en-US" sz="1800" b="0" dirty="0">
                <a:latin typeface="Bahnschrift Condensed" panose="020B0502040204020203" pitchFamily="34" charset="0"/>
              </a:rPr>
              <a:t>Helps track business growth and performance across multiple years.</a:t>
            </a:r>
            <a:br>
              <a:rPr lang="en-US" sz="1800" b="0" dirty="0">
                <a:latin typeface="Bahnschrift Condensed" panose="020B0502040204020203" pitchFamily="34" charset="0"/>
              </a:rPr>
            </a:br>
            <a:endParaRPr lang="en-IN" sz="1800" b="0" dirty="0">
              <a:latin typeface="Bahnschrift Condensed" panose="020B0502040204020203" pitchFamily="34" charset="0"/>
            </a:endParaRPr>
          </a:p>
        </p:txBody>
      </p:sp>
      <p:pic>
        <p:nvPicPr>
          <p:cNvPr id="5" name="Picture 4">
            <a:extLst>
              <a:ext uri="{FF2B5EF4-FFF2-40B4-BE49-F238E27FC236}">
                <a16:creationId xmlns:a16="http://schemas.microsoft.com/office/drawing/2014/main" id="{EEFB4F68-3255-4128-9880-8BAA0550ED31}"/>
              </a:ext>
            </a:extLst>
          </p:cNvPr>
          <p:cNvPicPr>
            <a:picLocks noChangeAspect="1"/>
          </p:cNvPicPr>
          <p:nvPr/>
        </p:nvPicPr>
        <p:blipFill>
          <a:blip r:embed="rId2"/>
          <a:stretch>
            <a:fillRect/>
          </a:stretch>
        </p:blipFill>
        <p:spPr>
          <a:xfrm>
            <a:off x="457200" y="1752599"/>
            <a:ext cx="4191000" cy="3009900"/>
          </a:xfrm>
          <a:prstGeom prst="rect">
            <a:avLst/>
          </a:prstGeom>
        </p:spPr>
      </p:pic>
    </p:spTree>
    <p:extLst>
      <p:ext uri="{BB962C8B-B14F-4D97-AF65-F5344CB8AC3E}">
        <p14:creationId xmlns:p14="http://schemas.microsoft.com/office/powerpoint/2010/main" val="2390955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34D24-B9A1-40C1-8B66-7965493A0704}"/>
              </a:ext>
            </a:extLst>
          </p:cNvPr>
          <p:cNvSpPr>
            <a:spLocks noGrp="1"/>
          </p:cNvSpPr>
          <p:nvPr>
            <p:ph type="ctrTitle"/>
          </p:nvPr>
        </p:nvSpPr>
        <p:spPr>
          <a:xfrm>
            <a:off x="4876800" y="2230904"/>
            <a:ext cx="3710940" cy="1938992"/>
          </a:xfrm>
        </p:spPr>
        <p:txBody>
          <a:bodyPr/>
          <a:lstStyle/>
          <a:p>
            <a:r>
              <a:rPr lang="en-US" sz="1800" b="0" dirty="0">
                <a:latin typeface="Bahnschrift Condensed" panose="020B0502040204020203" pitchFamily="34" charset="0"/>
              </a:rPr>
              <a:t>Months Name Slicer (Jan–Dec)</a:t>
            </a:r>
            <a:br>
              <a:rPr lang="en-US" sz="1800" b="0" dirty="0">
                <a:latin typeface="Bahnschrift Condensed" panose="020B0502040204020203" pitchFamily="34" charset="0"/>
              </a:rPr>
            </a:b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Filters data by month to study seasonal sales and profit patterns.</a:t>
            </a:r>
            <a:br>
              <a:rPr lang="en-US" sz="1800" b="0" dirty="0">
                <a:latin typeface="Bahnschrift Condensed" panose="020B0502040204020203" pitchFamily="34" charset="0"/>
              </a:rPr>
            </a:br>
            <a:r>
              <a:rPr lang="en-US" sz="1800" b="0" dirty="0">
                <a:latin typeface="Bahnschrift Condensed" panose="020B0502040204020203" pitchFamily="34" charset="0"/>
              </a:rPr>
              <a:t>Useful for identifying peak months and low-performance periods.</a:t>
            </a:r>
          </a:p>
        </p:txBody>
      </p:sp>
      <p:pic>
        <p:nvPicPr>
          <p:cNvPr id="5" name="Picture 4">
            <a:extLst>
              <a:ext uri="{FF2B5EF4-FFF2-40B4-BE49-F238E27FC236}">
                <a16:creationId xmlns:a16="http://schemas.microsoft.com/office/drawing/2014/main" id="{B9954482-0817-4360-8560-82C1B5D9B4B3}"/>
              </a:ext>
            </a:extLst>
          </p:cNvPr>
          <p:cNvPicPr>
            <a:picLocks noChangeAspect="1"/>
          </p:cNvPicPr>
          <p:nvPr/>
        </p:nvPicPr>
        <p:blipFill>
          <a:blip r:embed="rId2"/>
          <a:stretch>
            <a:fillRect/>
          </a:stretch>
        </p:blipFill>
        <p:spPr>
          <a:xfrm>
            <a:off x="533400" y="1752600"/>
            <a:ext cx="4038600" cy="2895600"/>
          </a:xfrm>
          <a:prstGeom prst="rect">
            <a:avLst/>
          </a:prstGeom>
        </p:spPr>
      </p:pic>
    </p:spTree>
    <p:extLst>
      <p:ext uri="{BB962C8B-B14F-4D97-AF65-F5344CB8AC3E}">
        <p14:creationId xmlns:p14="http://schemas.microsoft.com/office/powerpoint/2010/main" val="4105454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ADDC5-19C9-487A-9426-630D118DAA53}"/>
              </a:ext>
            </a:extLst>
          </p:cNvPr>
          <p:cNvSpPr>
            <a:spLocks noGrp="1"/>
          </p:cNvSpPr>
          <p:nvPr>
            <p:ph type="ctrTitle"/>
          </p:nvPr>
        </p:nvSpPr>
        <p:spPr>
          <a:xfrm>
            <a:off x="2209801" y="360202"/>
            <a:ext cx="4572000" cy="553998"/>
          </a:xfrm>
        </p:spPr>
        <p:txBody>
          <a:bodyPr/>
          <a:lstStyle/>
          <a:p>
            <a:r>
              <a:rPr lang="en-IN" sz="36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CARDS CREATION</a:t>
            </a:r>
          </a:p>
        </p:txBody>
      </p:sp>
      <p:pic>
        <p:nvPicPr>
          <p:cNvPr id="5" name="Picture 4">
            <a:extLst>
              <a:ext uri="{FF2B5EF4-FFF2-40B4-BE49-F238E27FC236}">
                <a16:creationId xmlns:a16="http://schemas.microsoft.com/office/drawing/2014/main" id="{FC6CCD27-A4BF-41C2-8422-AB9BDCAD1D8D}"/>
              </a:ext>
            </a:extLst>
          </p:cNvPr>
          <p:cNvPicPr>
            <a:picLocks noChangeAspect="1"/>
          </p:cNvPicPr>
          <p:nvPr/>
        </p:nvPicPr>
        <p:blipFill>
          <a:blip r:embed="rId2"/>
          <a:stretch>
            <a:fillRect/>
          </a:stretch>
        </p:blipFill>
        <p:spPr>
          <a:xfrm>
            <a:off x="914400" y="1754758"/>
            <a:ext cx="2971800" cy="1336104"/>
          </a:xfrm>
          <a:prstGeom prst="rect">
            <a:avLst/>
          </a:prstGeom>
        </p:spPr>
      </p:pic>
      <p:pic>
        <p:nvPicPr>
          <p:cNvPr id="7" name="Picture 6">
            <a:extLst>
              <a:ext uri="{FF2B5EF4-FFF2-40B4-BE49-F238E27FC236}">
                <a16:creationId xmlns:a16="http://schemas.microsoft.com/office/drawing/2014/main" id="{04CB266E-6883-47B6-80E8-03CBF962FFFE}"/>
              </a:ext>
            </a:extLst>
          </p:cNvPr>
          <p:cNvPicPr>
            <a:picLocks noChangeAspect="1"/>
          </p:cNvPicPr>
          <p:nvPr/>
        </p:nvPicPr>
        <p:blipFill>
          <a:blip r:embed="rId3"/>
          <a:stretch>
            <a:fillRect/>
          </a:stretch>
        </p:blipFill>
        <p:spPr>
          <a:xfrm>
            <a:off x="914400" y="3581400"/>
            <a:ext cx="2971800" cy="1336104"/>
          </a:xfrm>
          <a:prstGeom prst="rect">
            <a:avLst/>
          </a:prstGeom>
        </p:spPr>
      </p:pic>
      <p:sp>
        <p:nvSpPr>
          <p:cNvPr id="10" name="Rectangle 9">
            <a:extLst>
              <a:ext uri="{FF2B5EF4-FFF2-40B4-BE49-F238E27FC236}">
                <a16:creationId xmlns:a16="http://schemas.microsoft.com/office/drawing/2014/main" id="{8947D961-6BE6-40DB-B957-AF4DACFA3B09}"/>
              </a:ext>
            </a:extLst>
          </p:cNvPr>
          <p:cNvSpPr/>
          <p:nvPr/>
        </p:nvSpPr>
        <p:spPr>
          <a:xfrm>
            <a:off x="4495801" y="1657350"/>
            <a:ext cx="4191000" cy="3543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Condensed" panose="020B0502040204020203" pitchFamily="34" charset="0"/>
              </a:rPr>
              <a:t>Total Sales Card</a:t>
            </a:r>
          </a:p>
          <a:p>
            <a:r>
              <a:rPr lang="en-US" dirty="0">
                <a:solidFill>
                  <a:schemeClr val="tx1"/>
                </a:solidFill>
                <a:latin typeface="Bahnschrift Condensed" panose="020B0502040204020203" pitchFamily="34" charset="0"/>
              </a:rPr>
              <a:t>Shows the overall revenue generated for the selected period.</a:t>
            </a:r>
            <a:br>
              <a:rPr lang="en-US" dirty="0">
                <a:solidFill>
                  <a:schemeClr val="tx1"/>
                </a:solidFill>
                <a:latin typeface="Bahnschrift Condensed" panose="020B0502040204020203" pitchFamily="34" charset="0"/>
              </a:rPr>
            </a:br>
            <a:r>
              <a:rPr lang="en-US" dirty="0">
                <a:solidFill>
                  <a:schemeClr val="tx1"/>
                </a:solidFill>
                <a:latin typeface="Bahnschrift Condensed" panose="020B0502040204020203" pitchFamily="34" charset="0"/>
              </a:rPr>
              <a:t>Helps quickly understand business performance at a glance.</a:t>
            </a:r>
          </a:p>
          <a:p>
            <a:endParaRPr lang="en-US" dirty="0">
              <a:solidFill>
                <a:schemeClr val="tx1"/>
              </a:solidFill>
              <a:latin typeface="Bahnschrift Condensed" panose="020B0502040204020203" pitchFamily="34" charset="0"/>
            </a:endParaRPr>
          </a:p>
          <a:p>
            <a:r>
              <a:rPr lang="en-US" dirty="0">
                <a:solidFill>
                  <a:schemeClr val="tx1"/>
                </a:solidFill>
                <a:latin typeface="Bahnschrift Condensed" panose="020B0502040204020203" pitchFamily="34" charset="0"/>
              </a:rPr>
              <a:t>Total Profit Card</a:t>
            </a:r>
          </a:p>
          <a:p>
            <a:r>
              <a:rPr lang="en-US" dirty="0">
                <a:solidFill>
                  <a:schemeClr val="tx1"/>
                </a:solidFill>
                <a:latin typeface="Bahnschrift Condensed" panose="020B0502040204020203" pitchFamily="34" charset="0"/>
              </a:rPr>
              <a:t>Displays the total profit earned after deducting costs.</a:t>
            </a:r>
            <a:br>
              <a:rPr lang="en-US" dirty="0">
                <a:solidFill>
                  <a:schemeClr val="tx1"/>
                </a:solidFill>
                <a:latin typeface="Bahnschrift Condensed" panose="020B0502040204020203" pitchFamily="34" charset="0"/>
              </a:rPr>
            </a:br>
            <a:r>
              <a:rPr lang="en-US" dirty="0">
                <a:solidFill>
                  <a:schemeClr val="tx1"/>
                </a:solidFill>
                <a:latin typeface="Bahnschrift Condensed" panose="020B0502040204020203" pitchFamily="34" charset="0"/>
              </a:rPr>
              <a:t>Useful for evaluating financial health and profitability instantly.</a:t>
            </a:r>
          </a:p>
          <a:p>
            <a:endParaRPr lang="en-US" dirty="0"/>
          </a:p>
        </p:txBody>
      </p:sp>
    </p:spTree>
    <p:extLst>
      <p:ext uri="{BB962C8B-B14F-4D97-AF65-F5344CB8AC3E}">
        <p14:creationId xmlns:p14="http://schemas.microsoft.com/office/powerpoint/2010/main" val="1618081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C5AD7-040E-4E91-BDD7-9262608DCBF1}"/>
              </a:ext>
            </a:extLst>
          </p:cNvPr>
          <p:cNvSpPr>
            <a:spLocks noGrp="1"/>
          </p:cNvSpPr>
          <p:nvPr>
            <p:ph type="ctrTitle"/>
          </p:nvPr>
        </p:nvSpPr>
        <p:spPr>
          <a:xfrm>
            <a:off x="990600" y="2819400"/>
            <a:ext cx="7391400" cy="1828800"/>
          </a:xfrm>
        </p:spPr>
        <p:txBody>
          <a:bodyPr/>
          <a:lstStyle/>
          <a:p>
            <a:r>
              <a:rPr lang="en-US" sz="1800" b="0" dirty="0">
                <a:latin typeface="Bahnschrift Condensed" panose="020B0502040204020203" pitchFamily="34" charset="0"/>
              </a:rPr>
              <a:t>The Sales &amp; Profit Dashboard provides a comprehensive view of business performance by combining key metrics, visual trends, and customer insights in one place. With interactive charts, slicers, and KPI cards, it allows decision-makers to quickly identify growth opportunities, monitor profitability, and make informed strategic decisions.</a:t>
            </a:r>
            <a:endParaRPr lang="en-IN" sz="1800" b="0" dirty="0">
              <a:latin typeface="Bahnschrift Condensed" panose="020B0502040204020203" pitchFamily="34" charset="0"/>
            </a:endParaRPr>
          </a:p>
        </p:txBody>
      </p:sp>
      <p:sp>
        <p:nvSpPr>
          <p:cNvPr id="4" name="Rectangle 3">
            <a:extLst>
              <a:ext uri="{FF2B5EF4-FFF2-40B4-BE49-F238E27FC236}">
                <a16:creationId xmlns:a16="http://schemas.microsoft.com/office/drawing/2014/main" id="{0913CBBA-E851-4FF5-B42A-56CE7A5ED9D4}"/>
              </a:ext>
            </a:extLst>
          </p:cNvPr>
          <p:cNvSpPr/>
          <p:nvPr/>
        </p:nvSpPr>
        <p:spPr>
          <a:xfrm>
            <a:off x="2133600" y="533400"/>
            <a:ext cx="5105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CONCLUSION</a:t>
            </a:r>
          </a:p>
        </p:txBody>
      </p:sp>
    </p:spTree>
    <p:extLst>
      <p:ext uri="{BB962C8B-B14F-4D97-AF65-F5344CB8AC3E}">
        <p14:creationId xmlns:p14="http://schemas.microsoft.com/office/powerpoint/2010/main" val="1566461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4B974-5EEF-45CB-9F87-BF1EE50BD81D}"/>
              </a:ext>
            </a:extLst>
          </p:cNvPr>
          <p:cNvSpPr>
            <a:spLocks noGrp="1"/>
          </p:cNvSpPr>
          <p:nvPr>
            <p:ph type="ctrTitle"/>
          </p:nvPr>
        </p:nvSpPr>
        <p:spPr>
          <a:xfrm>
            <a:off x="685800" y="1905000"/>
            <a:ext cx="8229600" cy="4154984"/>
          </a:xfrm>
        </p:spPr>
        <p:txBody>
          <a:bodyPr/>
          <a:lstStyle/>
          <a:p>
            <a:r>
              <a:rPr lang="en-US" sz="1800" b="0" dirty="0">
                <a:latin typeface="Bahnschrift Condensed" panose="020B0502040204020203" pitchFamily="34" charset="0"/>
              </a:rPr>
              <a:t>1. Focus on High-Profit Customers</a:t>
            </a:r>
            <a:br>
              <a:rPr lang="en-US" sz="1800" b="0" dirty="0">
                <a:latin typeface="Bahnschrift Condensed" panose="020B0502040204020203" pitchFamily="34" charset="0"/>
              </a:rPr>
            </a:br>
            <a:r>
              <a:rPr lang="en-US" sz="1800" b="0" dirty="0">
                <a:latin typeface="Bahnschrift Condensed" panose="020B0502040204020203" pitchFamily="34" charset="0"/>
              </a:rPr>
              <a:t>Prioritize engagement and retention strategies for top customers contributing the most profit.</a:t>
            </a: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2. Improve Low-Performing Categories</a:t>
            </a:r>
            <a:br>
              <a:rPr lang="en-US" sz="1800" b="0" dirty="0">
                <a:latin typeface="Bahnschrift Condensed" panose="020B0502040204020203" pitchFamily="34" charset="0"/>
              </a:rPr>
            </a:br>
            <a:r>
              <a:rPr lang="en-US" sz="1800" b="0" dirty="0">
                <a:latin typeface="Bahnschrift Condensed" panose="020B0502040204020203" pitchFamily="34" charset="0"/>
              </a:rPr>
              <a:t>Investigate categories with low sales or negative profit and optimize pricing, marketing, or inventory.</a:t>
            </a: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3. Expand in High-Sales Regions</a:t>
            </a:r>
            <a:br>
              <a:rPr lang="en-US" sz="1800" b="0" dirty="0">
                <a:latin typeface="Bahnschrift Condensed" panose="020B0502040204020203" pitchFamily="34" charset="0"/>
              </a:rPr>
            </a:br>
            <a:r>
              <a:rPr lang="en-US" sz="1800" b="0" dirty="0">
                <a:latin typeface="Bahnschrift Condensed" panose="020B0502040204020203" pitchFamily="34" charset="0"/>
              </a:rPr>
              <a:t>Allocate more resources to states with strong sales performance to maximize growth opportunities.</a:t>
            </a: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4. Monitor Monthly Trends Closely</a:t>
            </a:r>
            <a:br>
              <a:rPr lang="en-US" sz="1800" b="0" dirty="0">
                <a:latin typeface="Bahnschrift Condensed" panose="020B0502040204020203" pitchFamily="34" charset="0"/>
              </a:rPr>
            </a:br>
            <a:r>
              <a:rPr lang="en-US" sz="1800" b="0" dirty="0">
                <a:latin typeface="Bahnschrift Condensed" panose="020B0502040204020203" pitchFamily="34" charset="0"/>
              </a:rPr>
              <a:t>Use monthly sales patterns to plan promotions, manage stock, and prepare for seasonal demand.</a:t>
            </a:r>
            <a:br>
              <a:rPr lang="en-US" sz="1800" b="0" dirty="0">
                <a:latin typeface="Bahnschrift Condensed" panose="020B0502040204020203" pitchFamily="34" charset="0"/>
              </a:rPr>
            </a:br>
            <a:br>
              <a:rPr lang="en-US" sz="1800" b="0" dirty="0">
                <a:latin typeface="Bahnschrift Condensed" panose="020B0502040204020203" pitchFamily="34" charset="0"/>
              </a:rPr>
            </a:br>
            <a:r>
              <a:rPr lang="en-US" sz="1800" b="0" dirty="0">
                <a:latin typeface="Bahnschrift Condensed" panose="020B0502040204020203" pitchFamily="34" charset="0"/>
              </a:rPr>
              <a:t>5. Enhance Data Refresh &amp; Automation</a:t>
            </a:r>
            <a:br>
              <a:rPr lang="en-US" sz="1800" b="0" dirty="0">
                <a:latin typeface="Bahnschrift Condensed" panose="020B0502040204020203" pitchFamily="34" charset="0"/>
              </a:rPr>
            </a:br>
            <a:r>
              <a:rPr lang="en-US" sz="1800" b="0" dirty="0">
                <a:latin typeface="Bahnschrift Condensed" panose="020B0502040204020203" pitchFamily="34" charset="0"/>
              </a:rPr>
              <a:t>Implement automated updates to ensure the dashboard always reflects the latest business data.</a:t>
            </a:r>
            <a:br>
              <a:rPr lang="en-US" sz="1800" b="0" dirty="0">
                <a:latin typeface="Bahnschrift Condensed" panose="020B0502040204020203" pitchFamily="34" charset="0"/>
              </a:rPr>
            </a:br>
            <a:endParaRPr lang="en-IN" sz="1800" b="0" dirty="0">
              <a:latin typeface="Bahnschrift Condensed" panose="020B0502040204020203" pitchFamily="34" charset="0"/>
            </a:endParaRPr>
          </a:p>
        </p:txBody>
      </p:sp>
      <p:sp>
        <p:nvSpPr>
          <p:cNvPr id="4" name="Rectangle 3">
            <a:extLst>
              <a:ext uri="{FF2B5EF4-FFF2-40B4-BE49-F238E27FC236}">
                <a16:creationId xmlns:a16="http://schemas.microsoft.com/office/drawing/2014/main" id="{75EE3717-1FAD-4884-9F8E-0DA1AA56D578}"/>
              </a:ext>
            </a:extLst>
          </p:cNvPr>
          <p:cNvSpPr/>
          <p:nvPr/>
        </p:nvSpPr>
        <p:spPr>
          <a:xfrm>
            <a:off x="1676400" y="685800"/>
            <a:ext cx="6781800" cy="685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225" algn="ctr">
              <a:lnSpc>
                <a:spcPts val="3715"/>
              </a:lnSpc>
            </a:pPr>
            <a:r>
              <a:rPr lang="en-IN" sz="36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rebuchet MS"/>
              </a:rPr>
              <a:t>RECOMMENDATIONS</a:t>
            </a:r>
          </a:p>
        </p:txBody>
      </p:sp>
    </p:spTree>
    <p:extLst>
      <p:ext uri="{BB962C8B-B14F-4D97-AF65-F5344CB8AC3E}">
        <p14:creationId xmlns:p14="http://schemas.microsoft.com/office/powerpoint/2010/main" val="2319870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609600"/>
            <a:ext cx="9767189" cy="5347589"/>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741</TotalTime>
  <Words>1075</Words>
  <Application>Microsoft Office PowerPoint</Application>
  <PresentationFormat>Widescreen</PresentationFormat>
  <Paragraphs>111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Black</vt:lpstr>
      <vt:lpstr>Bahnschrift Condensed</vt:lpstr>
      <vt:lpstr>Trebuchet MS</vt:lpstr>
      <vt:lpstr>Wingdings</vt:lpstr>
      <vt:lpstr>Wingdings 3</vt:lpstr>
      <vt:lpstr>Facet</vt:lpstr>
      <vt:lpstr>Sales &amp; Profit Dashboard Using Microsoft Excel</vt:lpstr>
      <vt:lpstr>Overviews</vt:lpstr>
      <vt:lpstr>OBJECTIVES</vt:lpstr>
      <vt:lpstr>PowerPoint Presentation</vt:lpstr>
      <vt:lpstr>PowerPoint Presentation</vt:lpstr>
      <vt:lpstr>PowerPoint Presentation</vt:lpstr>
      <vt:lpstr>PowerPoint Presentation</vt:lpstr>
      <vt:lpstr>PowerPoint Presentation</vt:lpstr>
      <vt:lpstr>Customer Count (Donut Chart)   Displays the number of customers each year, showing growth or decline in customer base.</vt:lpstr>
      <vt:lpstr>PowerPoint Presentation</vt:lpstr>
      <vt:lpstr> Top 5 Customers Profit (horizontal Bar chart)   Ranks customers by the profit they generate, helping target high-value clients.</vt:lpstr>
      <vt:lpstr>Sales by Month (Column chart)   Shows monthly performance trends and helps identify peak and low sales periods. </vt:lpstr>
      <vt:lpstr>FILTER USE BY SLIDER</vt:lpstr>
      <vt:lpstr>Year Slicer (2021, 2022, 2023, 2024)   Allows switching the dashboard view by year for quick trend comparison. Helps track business growth and performance across multiple years. </vt:lpstr>
      <vt:lpstr>Months Name Slicer (Jan–Dec)   Filters data by month to study seasonal sales and profit patterns. Useful for identifying peak months and low-performance periods.</vt:lpstr>
      <vt:lpstr>CARDS CREATION</vt:lpstr>
      <vt:lpstr>The Sales &amp; Profit Dashboard provides a comprehensive view of business performance by combining key metrics, visual trends, and customer insights in one place. With interactive charts, slicers, and KPI cards, it allows decision-makers to quickly identify growth opportunities, monitor profitability, and make informed strategic decisions.</vt:lpstr>
      <vt:lpstr>1. Focus on High-Profit Customers Prioritize engagement and retention strategies for top customers contributing the most profit.  2. Improve Low-Performing Categories Investigate categories with low sales or negative profit and optimize pricing, marketing, or inventory.  3. Expand in High-Sales Regions Allocate more resources to states with strong sales performance to maximize growth opportunities.  4. Monitor Monthly Trends Closely Use monthly sales patterns to plan promotions, manage stock, and prepare for seasonal demand.  5. Enhance Data Refresh &amp; Automation Implement automated updates to ensure the dashboard always reflects the latest business data.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SALES DATA ANALYSIS USING MICROSOFT EXCEL</dc:title>
  <dc:creator>Sujit Ghadi</dc:creator>
  <cp:lastModifiedBy>Sujit Ghadi</cp:lastModifiedBy>
  <cp:revision>61</cp:revision>
  <dcterms:created xsi:type="dcterms:W3CDTF">2025-08-05T09:32:23Z</dcterms:created>
  <dcterms:modified xsi:type="dcterms:W3CDTF">2025-11-26T13:58:44Z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2025-08-05T00:00:00Z</vt:filetime>
  </property>
  <property fmtid="{D5CDD505-2E9C-101B-9397-08002B2CF9AE}" pid="3" name="Creator">
    <vt:lpwstr>Microsoft® Word 2019</vt:lpwstr>
  </property>
  <property fmtid="{D5CDD505-2E9C-101B-9397-08002B2CF9AE}" pid="4" name="LastSaved">
    <vt:filetime>2025-08-05T00:00:00Z</vt:filetime>
  </property>
  <property fmtid="{D5CDD505-2E9C-101B-9397-08002B2CF9AE}" pid="5" name="Producer">
    <vt:lpwstr>Microsoft® Word 2019</vt:lpwstr>
  </property>
</Properties>
</file>